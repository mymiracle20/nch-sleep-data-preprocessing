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2" r:id="rId8"/>
    <p:sldId id="280" r:id="rId9"/>
    <p:sldId id="281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7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9T02:38:01.3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1,'0'0,"0"1,0-1,0 1,0-1,1 1,-1-1,0 1,0-1,0 1,1-1,-1 1,0-1,0 1,1-1,-1 1,1-1,-1 0,0 1,1-1,-1 0,1 1,-1-1,1 0,-1 1,0-1,1 0,1 0,18 4,-16-3,292 10,-210-11,336-1,200 2,-324 14,-152-7,366 20,-303-17,242 6,1799-18,-1641 40,-577-36,222 12,-69-7,612 7,-96-5,20 9,0-20,-238-1,-227 1,312 4,-210 20,-16-1,375-30,-211-5,2472 14,-2751-12,-70 1,638 3,-597 8,83-16,-151 5,271-44,-61 4,20 45,-205 7,707-2,-649 13,1 1,2205-15,-2397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9T02:38:09.7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0 294,'6573'0,"-5964"14,-54-1,173-13,-334 26,-72-1,414-22,-381-5,901 2,-920-25,-103 3,193-11,-242 17,227-11,44 14,9 0,25-40,222-10,-387 64,287-11,-259-5,-222 11,124-26,-204 22,50-2,-1 4,104 7,-77 1,453-1,-386-15,-33 1,422 11,-299 4,-108-4,192 4,-175 14,-101-7,143 13,110 9,-212-19,103 5,-186-14,0 3,54 12,-57-9,1-1,68 1,-75-7,56 10,-60-7,42 9,-40-7,77 5,40 2,0-1,-25-13,-105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9T02:38:30.3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0,'21934'0'0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9T02:38:41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 0,'22199'0'0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9T02:38:47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2,'18'10,"2"2,8-5,0-1,0-1,0-1,38 0,-33-2,572 22,-261-12,50 3,1205 60,-1356-59,787 33,-410-26,-396-12,239 22,131 4,-294-29,861 11,3179-20,-3752-40,-43 1,-115 16,-60-10,-51 5,5 4,-184 15,-62 5,546-27,-348 20,-1-1,262-3,-25 7,-151 7,-176-11,41 0,1768 13,-897 1,-1052-3,57-9,17-2,-35 11,85-8,-11-3,193 9,-199 5,-129-1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9T02:39:06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1 213,'503'1,"594"-3,-320-54,-384 18,86 19,-171 10,777-2,-687 13,4034-2,-4181-14,-1 0,631 15,-627-15,6 0,113 1,22 0,216 14,-565 2,0 2,0 2,89 26,2 0,344 55,-261-31,-141-34,99 16,133-8,-198-21,35 3,316 15,62-25,-267-5,-113 0,162 4,-184 10,21 1,113 5,-176-10,25 2,137 8,793-18,-477-1,2375 1,-2927 0,0-1,1 1,13-4,-5-1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9T02:39:40.5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0,'22040'52'0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BDA84-73D5-1A74-ABC2-C3E884B3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497ABB-A750-518E-6D3B-CAB459027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5E337-D1D5-3F9A-34B8-506BAE10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49EC94-81E7-BBDC-AC17-F6C2E3BD6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7CB1D9-1B4D-263F-489D-234CF6AE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50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FCF7D-B227-2FC7-E32F-EB306F8C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8EF98-AF77-8F0D-BF48-C586B86D4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1F418-BFA1-6682-6E3E-EA953354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96749-5EB8-BD9A-6C05-A9E305D5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4AE23-EC41-9FA0-DACE-8B04F9A7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5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1B067-08A4-AAEF-43DF-3D1773E0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00740-9642-CBB8-E435-05019BED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EC2B27-F5F4-60FD-C86F-99611102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556E8-B19E-5196-2536-1E726086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CCB17A-95C6-FE05-B665-ADD666A8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7B815-2011-58E5-3081-C07B3CB1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6A00-0AB8-FBD1-0A12-74F3858F5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2AE8B7-4C26-C0DA-A5AD-0A5886CEF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9ACA13-72D1-C001-B957-53A4AF4B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05A157-85C2-7EED-4EE0-A5B2D4F1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91C607-3CC3-EC6B-5B08-1A8B8B75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11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8F003-1805-9DA7-CB8C-4B861A22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7602B-D5ED-5605-D180-EED3E2C4D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EECC84-5EFD-5353-BCD9-BC884DA9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00CE02-77D1-FD85-D498-27619CF58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147AF6-357A-815D-1A54-90FC0F3C7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7B3DF9-7B7A-A7F7-758E-95640724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1CD1F1-D59C-CFE9-D20B-3C5D6B82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FEE4A3-74CB-B83C-A258-E99E8B21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87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05329-5ACB-27C1-940F-24FD5451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85228E-B2AE-DF93-36CC-BD25CC17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EBAFAA-A28D-53EF-0919-440415CD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6B6AD3-41B6-C157-BE40-70BC4236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78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DCB47-D535-06C8-E8DB-E312CE9D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031FB0-C3E0-3B14-A1F1-5322BD33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7CF76-D8BA-2280-17D4-CD1053BC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78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3BB39-B1C9-48A9-678D-66D17C80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92CD2-CA1E-3A41-3503-A5DCAD7A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169D4B-FA1C-718C-71CE-72D5A309A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725447-0C6D-1C22-26D2-3729A3CC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D3F3D-9BA8-24E7-3AE8-9965A5E0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E2A61-D106-AB04-755F-61C34B91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46DA7-2FFE-5DCC-63A1-5E87C3C3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CFFD8E-0A0D-60AC-D14C-749BC7E60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8C43E-9663-014F-0C1F-8C3D2375F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F9135-C849-ED10-EA04-9FE8F3E5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5C50B2-A830-1838-2931-FB9D67D1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A65271-B451-0257-0838-9464BEF8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7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EDFD8-02C3-0C57-1462-421913FF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3FD439-AE5E-21D8-DEF1-3788FA427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DF8DB-BF05-178F-69DC-E448C8D0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B9B1C-AAFC-7ED7-7DAB-982BD3D9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429C32-C40B-E609-6332-3B4D3F4E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2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25AF0C-AD8C-67A0-6767-B1EF88E30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735D25-303C-E7D0-791A-D8EBC5902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95A5F-0E64-1498-F41F-25A6D621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59F27-E258-B259-BC06-C4676480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FA321-5610-44A8-EC14-8A5185BD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56C38E-2A7E-331A-9B73-049A0722F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CEAE31-292B-5C58-C685-B3C351C61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62961-DCD2-C246-B7DA-8A0D06AF6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DF88F-6588-44D6-98A5-3AED2308F0B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34FD9-4997-531E-B349-CD27758CC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6BA87-C5CF-0920-22AB-5BA229EE6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04164-4B0C-4627-8DD1-84678824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18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9.png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4.xml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F3046F2-A373-4FF4-A7CD-BB0006310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ko-KR" sz="4000" dirty="0" err="1"/>
              <a:t>Detection</a:t>
            </a:r>
            <a:r>
              <a:rPr lang="ko-KR" altLang="ko-KR" sz="4000" dirty="0"/>
              <a:t> of </a:t>
            </a:r>
            <a:r>
              <a:rPr lang="ko-KR" altLang="ko-KR" sz="4000" dirty="0" err="1"/>
              <a:t>Sleep</a:t>
            </a:r>
            <a:r>
              <a:rPr lang="ko-KR" altLang="ko-KR" sz="4000" dirty="0"/>
              <a:t> </a:t>
            </a:r>
            <a:r>
              <a:rPr lang="ko-KR" altLang="ko-KR" sz="4000" dirty="0" err="1"/>
              <a:t>Oxygen</a:t>
            </a:r>
            <a:r>
              <a:rPr lang="ko-KR" altLang="ko-KR" sz="4000" dirty="0"/>
              <a:t> </a:t>
            </a:r>
            <a:r>
              <a:rPr lang="ko-KR" altLang="ko-KR" sz="4000" dirty="0" err="1"/>
              <a:t>Desaturations</a:t>
            </a:r>
            <a:r>
              <a:rPr lang="ko-KR" altLang="ko-KR" sz="4000" dirty="0"/>
              <a:t> </a:t>
            </a:r>
            <a:r>
              <a:rPr lang="ko-KR" altLang="ko-KR" sz="4000" dirty="0" err="1"/>
              <a:t>from</a:t>
            </a:r>
            <a:r>
              <a:rPr lang="ko-KR" altLang="ko-KR" sz="4000" dirty="0"/>
              <a:t> </a:t>
            </a:r>
            <a:r>
              <a:rPr lang="ko-KR" altLang="ko-KR" sz="4000" dirty="0" err="1"/>
              <a:t>Electroencephalogram</a:t>
            </a:r>
            <a:r>
              <a:rPr lang="ko-KR" altLang="ko-KR" sz="4000" dirty="0"/>
              <a:t> </a:t>
            </a:r>
            <a:r>
              <a:rPr lang="ko-KR" altLang="ko-KR" sz="4000" dirty="0" err="1"/>
              <a:t>Signals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4919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D886374-8CE1-5E9D-8ADC-74824F8C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94" y="415774"/>
            <a:ext cx="4280006" cy="6108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8C867-2B1E-C44D-A20B-91428B04DBBF}"/>
              </a:ext>
            </a:extLst>
          </p:cNvPr>
          <p:cNvSpPr txBox="1"/>
          <p:nvPr/>
        </p:nvSpPr>
        <p:spPr>
          <a:xfrm>
            <a:off x="5203782" y="728602"/>
            <a:ext cx="65595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Demographic : </a:t>
            </a:r>
            <a:r>
              <a:rPr lang="ko-KR" altLang="en-US" dirty="0"/>
              <a:t>인종</a:t>
            </a:r>
            <a:r>
              <a:rPr lang="en-US" altLang="ko-KR" dirty="0"/>
              <a:t>, </a:t>
            </a:r>
            <a:r>
              <a:rPr lang="ko-KR" altLang="en-US" dirty="0"/>
              <a:t>생일</a:t>
            </a:r>
            <a:r>
              <a:rPr lang="en-US" altLang="ko-KR" dirty="0"/>
              <a:t>, </a:t>
            </a:r>
            <a:r>
              <a:rPr lang="ko-KR" altLang="en-US" dirty="0"/>
              <a:t>조산 여부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Diagnosis: </a:t>
            </a:r>
            <a:r>
              <a:rPr lang="ko-KR" altLang="en-US" dirty="0"/>
              <a:t>진단 시작</a:t>
            </a:r>
            <a:r>
              <a:rPr lang="en-US" altLang="ko-KR" dirty="0"/>
              <a:t>/</a:t>
            </a:r>
            <a:r>
              <a:rPr lang="ko-KR" altLang="en-US" dirty="0"/>
              <a:t>끝 날짜</a:t>
            </a:r>
            <a:r>
              <a:rPr lang="en-US" altLang="ko-KR" dirty="0"/>
              <a:t>, </a:t>
            </a:r>
            <a:r>
              <a:rPr lang="ko-KR" altLang="en-US" dirty="0"/>
              <a:t>진단 출처</a:t>
            </a:r>
            <a:r>
              <a:rPr lang="en-US" altLang="ko-KR" dirty="0"/>
              <a:t>, </a:t>
            </a:r>
            <a:r>
              <a:rPr lang="ko-KR" altLang="en-US" dirty="0"/>
              <a:t>진단명</a:t>
            </a:r>
            <a:r>
              <a:rPr lang="en-US" altLang="ko-KR" dirty="0"/>
              <a:t>, </a:t>
            </a:r>
            <a:r>
              <a:rPr lang="ko-KR" altLang="en-US" dirty="0"/>
              <a:t>진단 코드</a:t>
            </a:r>
            <a:r>
              <a:rPr lang="en-US" altLang="ko-KR" dirty="0"/>
              <a:t>(DX_NAME)</a:t>
            </a:r>
            <a:r>
              <a:rPr lang="ko-KR" altLang="en-US" dirty="0"/>
              <a:t> 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Measurement:</a:t>
            </a:r>
            <a:r>
              <a:rPr lang="ko-KR" altLang="en-US" dirty="0"/>
              <a:t> 환자</a:t>
            </a:r>
            <a:r>
              <a:rPr lang="en-US" altLang="ko-KR" dirty="0"/>
              <a:t>, </a:t>
            </a:r>
            <a:r>
              <a:rPr lang="ko-KR" altLang="en-US" dirty="0"/>
              <a:t>검사</a:t>
            </a:r>
            <a:r>
              <a:rPr lang="en-US" altLang="ko-KR" dirty="0"/>
              <a:t>, </a:t>
            </a:r>
            <a:r>
              <a:rPr lang="ko-KR" altLang="en-US" dirty="0"/>
              <a:t>측정기록 </a:t>
            </a:r>
            <a:r>
              <a:rPr lang="en-US" altLang="ko-KR" dirty="0"/>
              <a:t>ID, </a:t>
            </a:r>
            <a:r>
              <a:rPr lang="ko-KR" altLang="en-US" dirty="0"/>
              <a:t>측정 날짜</a:t>
            </a:r>
            <a:r>
              <a:rPr lang="en-US" altLang="ko-KR" dirty="0"/>
              <a:t>&amp;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무엇을 측정했는지</a:t>
            </a:r>
            <a:r>
              <a:rPr lang="en-US" altLang="ko-KR" dirty="0"/>
              <a:t>(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en-US" altLang="ko-KR" dirty="0" err="1"/>
              <a:t>bmi</a:t>
            </a:r>
            <a:r>
              <a:rPr lang="en-US" altLang="ko-KR" dirty="0"/>
              <a:t> </a:t>
            </a:r>
            <a:r>
              <a:rPr lang="ko-KR" altLang="en-US" dirty="0"/>
              <a:t>등등</a:t>
            </a:r>
            <a:r>
              <a:rPr lang="en-US" altLang="ko-KR" dirty="0"/>
              <a:t>), </a:t>
            </a:r>
            <a:r>
              <a:rPr lang="ko-KR" altLang="en-US" dirty="0"/>
              <a:t>측정값</a:t>
            </a:r>
            <a:r>
              <a:rPr lang="en-US" altLang="ko-KR" dirty="0"/>
              <a:t>, </a:t>
            </a:r>
            <a:r>
              <a:rPr lang="ko-KR" altLang="en-US" dirty="0"/>
              <a:t>측정 기기</a:t>
            </a:r>
            <a:r>
              <a:rPr lang="en-US" altLang="ko-KR" dirty="0"/>
              <a:t>, </a:t>
            </a:r>
            <a:r>
              <a:rPr lang="ko-KR" altLang="en-US" dirty="0"/>
              <a:t>의료진 </a:t>
            </a:r>
            <a:r>
              <a:rPr lang="en-US" altLang="ko-KR" dirty="0"/>
              <a:t>ID</a:t>
            </a:r>
          </a:p>
          <a:p>
            <a:endParaRPr lang="en-US" altLang="ko-KR" dirty="0"/>
          </a:p>
          <a:p>
            <a:r>
              <a:rPr lang="en-US" altLang="ko-KR" dirty="0"/>
              <a:t>Medication: </a:t>
            </a:r>
            <a:r>
              <a:rPr lang="ko-KR" altLang="en-US" dirty="0"/>
              <a:t>약물 기록</a:t>
            </a:r>
            <a:r>
              <a:rPr lang="en-US" altLang="ko-KR" dirty="0"/>
              <a:t>, </a:t>
            </a:r>
            <a:r>
              <a:rPr lang="ko-KR" altLang="en-US" dirty="0"/>
              <a:t>환자 </a:t>
            </a:r>
            <a:r>
              <a:rPr lang="en-US" altLang="ko-KR" dirty="0"/>
              <a:t>ID, </a:t>
            </a:r>
            <a:r>
              <a:rPr lang="ko-KR" altLang="en-US" dirty="0"/>
              <a:t>검사</a:t>
            </a:r>
            <a:r>
              <a:rPr lang="en-US" altLang="ko-KR" dirty="0"/>
              <a:t> ID, </a:t>
            </a:r>
            <a:r>
              <a:rPr lang="ko-KR" altLang="en-US" dirty="0"/>
              <a:t>약 복용 시작</a:t>
            </a:r>
            <a:r>
              <a:rPr lang="en-US" altLang="ko-KR" dirty="0"/>
              <a:t>&amp;</a:t>
            </a:r>
            <a:r>
              <a:rPr lang="ko-KR" altLang="en-US" dirty="0"/>
              <a:t>종료일</a:t>
            </a:r>
            <a:r>
              <a:rPr lang="en-US" altLang="ko-KR" dirty="0"/>
              <a:t>, </a:t>
            </a:r>
            <a:r>
              <a:rPr lang="ko-KR" altLang="en-US" dirty="0"/>
              <a:t>처방일</a:t>
            </a:r>
            <a:r>
              <a:rPr lang="en-US" altLang="ko-KR" dirty="0"/>
              <a:t>, </a:t>
            </a:r>
            <a:r>
              <a:rPr lang="ko-KR" altLang="en-US" dirty="0"/>
              <a:t>실제 복용일</a:t>
            </a:r>
            <a:r>
              <a:rPr lang="en-US" altLang="ko-KR" dirty="0"/>
              <a:t>, </a:t>
            </a:r>
            <a:r>
              <a:rPr lang="ko-KR" altLang="en-US" dirty="0"/>
              <a:t>처방약</a:t>
            </a:r>
            <a:r>
              <a:rPr lang="en-US" altLang="ko-KR" dirty="0"/>
              <a:t>, </a:t>
            </a:r>
            <a:r>
              <a:rPr lang="ko-KR" altLang="en-US" dirty="0"/>
              <a:t>성분</a:t>
            </a:r>
            <a:r>
              <a:rPr lang="en-US" altLang="ko-KR" dirty="0"/>
              <a:t>, </a:t>
            </a:r>
            <a:r>
              <a:rPr lang="ko-KR" altLang="en-US" dirty="0"/>
              <a:t>용량</a:t>
            </a:r>
            <a:r>
              <a:rPr lang="en-US" altLang="ko-KR" dirty="0"/>
              <a:t>, </a:t>
            </a:r>
            <a:r>
              <a:rPr lang="ko-KR" altLang="en-US" dirty="0"/>
              <a:t>단위</a:t>
            </a:r>
            <a:r>
              <a:rPr lang="en-US" altLang="ko-KR" dirty="0"/>
              <a:t>, </a:t>
            </a:r>
            <a:r>
              <a:rPr lang="ko-KR" altLang="en-US" dirty="0"/>
              <a:t>경구인지 주사인지</a:t>
            </a:r>
            <a:r>
              <a:rPr lang="en-US" altLang="ko-KR" dirty="0"/>
              <a:t>, </a:t>
            </a:r>
            <a:r>
              <a:rPr lang="ko-KR" altLang="en-US" dirty="0"/>
              <a:t>약 분류</a:t>
            </a:r>
            <a:r>
              <a:rPr lang="en-US" altLang="ko-KR" dirty="0"/>
              <a:t>, Therma class(</a:t>
            </a:r>
            <a:r>
              <a:rPr lang="ko-KR" altLang="en-US" dirty="0"/>
              <a:t>치료 분류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643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553CF-8F75-4D12-8F53-BA6B0BA3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739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ED450-4CE1-1F15-A51D-4FD6B37E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23"/>
            <a:ext cx="10515600" cy="3558301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중증 질환 개수 많은 순서대로 </a:t>
            </a:r>
            <a:r>
              <a:rPr lang="en-US" altLang="ko-KR" sz="2000" dirty="0"/>
              <a:t>100</a:t>
            </a:r>
            <a:r>
              <a:rPr lang="ko-KR" altLang="en-US" sz="2000" dirty="0"/>
              <a:t>명</a:t>
            </a:r>
            <a:r>
              <a:rPr lang="en-US" altLang="ko-KR" sz="2000" dirty="0"/>
              <a:t>(</a:t>
            </a:r>
            <a:r>
              <a:rPr lang="ko-KR" altLang="en-US" sz="2000" dirty="0"/>
              <a:t>남 </a:t>
            </a:r>
            <a:r>
              <a:rPr lang="en-US" altLang="ko-KR" sz="2000" dirty="0"/>
              <a:t>50</a:t>
            </a:r>
            <a:r>
              <a:rPr lang="ko-KR" altLang="en-US" sz="2000" dirty="0"/>
              <a:t>명</a:t>
            </a:r>
            <a:r>
              <a:rPr lang="en-US" altLang="ko-KR" sz="2000" dirty="0"/>
              <a:t>, </a:t>
            </a:r>
            <a:r>
              <a:rPr lang="ko-KR" altLang="en-US" sz="2000" dirty="0"/>
              <a:t>여 </a:t>
            </a:r>
            <a:r>
              <a:rPr lang="en-US" altLang="ko-KR" sz="2000" dirty="0"/>
              <a:t>50</a:t>
            </a:r>
            <a:r>
              <a:rPr lang="ko-KR" altLang="en-US" sz="2000" dirty="0"/>
              <a:t>명</a:t>
            </a:r>
            <a:r>
              <a:rPr lang="en-US" altLang="ko-KR" sz="2000" dirty="0"/>
              <a:t>)</a:t>
            </a:r>
            <a:r>
              <a:rPr lang="ko-KR" altLang="en-US" sz="2000" dirty="0"/>
              <a:t> 다운로드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남자</a:t>
            </a:r>
            <a:r>
              <a:rPr lang="en-US" altLang="ko-KR" sz="2000" dirty="0"/>
              <a:t>, </a:t>
            </a:r>
            <a:r>
              <a:rPr lang="ko-KR" altLang="en-US" sz="2000" dirty="0"/>
              <a:t>여자 나누어서 각각 중증 질환 개수 많은 순서대로 </a:t>
            </a:r>
            <a:r>
              <a:rPr lang="en-US" altLang="ko-KR" sz="2000" dirty="0"/>
              <a:t>50</a:t>
            </a:r>
            <a:r>
              <a:rPr lang="ko-KR" altLang="en-US" sz="2000" dirty="0"/>
              <a:t>명씩 다운로드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중증 질환 리스트</a:t>
            </a:r>
            <a:r>
              <a:rPr lang="en-US" altLang="ko-KR" sz="2000" dirty="0"/>
              <a:t>(28</a:t>
            </a:r>
            <a:r>
              <a:rPr lang="ko-KR" altLang="en-US" sz="2000" dirty="0"/>
              <a:t>개</a:t>
            </a:r>
            <a:r>
              <a:rPr lang="en-US" altLang="ko-KR" sz="2000" dirty="0"/>
              <a:t>)</a:t>
            </a:r>
          </a:p>
          <a:p>
            <a:r>
              <a:rPr lang="ko-KR" altLang="ko-KR" sz="2000" dirty="0"/>
              <a:t>다운증후군</a:t>
            </a:r>
            <a:r>
              <a:rPr lang="en-US" altLang="ko-KR" sz="2000" dirty="0"/>
              <a:t>,</a:t>
            </a:r>
            <a:r>
              <a:rPr lang="ko-KR" altLang="ko-KR" sz="2000" dirty="0"/>
              <a:t> 삼염색체증(</a:t>
            </a:r>
            <a:r>
              <a:rPr lang="ko-KR" altLang="ko-KR" sz="2000" dirty="0" err="1"/>
              <a:t>트리소미</a:t>
            </a:r>
            <a:r>
              <a:rPr lang="ko-KR" altLang="ko-KR" sz="2000" dirty="0"/>
              <a:t>)</a:t>
            </a:r>
            <a:r>
              <a:rPr lang="en-US" altLang="ko-KR" sz="2000" dirty="0"/>
              <a:t>,</a:t>
            </a:r>
            <a:r>
              <a:rPr lang="ko-KR" altLang="ko-KR" sz="2000" dirty="0"/>
              <a:t> 간질(</a:t>
            </a:r>
            <a:r>
              <a:rPr lang="ko-KR" altLang="ko-KR" sz="2000" dirty="0" err="1"/>
              <a:t>뇌전증</a:t>
            </a:r>
            <a:r>
              <a:rPr lang="ko-KR" altLang="ko-KR" sz="2000" dirty="0"/>
              <a:t>)</a:t>
            </a:r>
            <a:r>
              <a:rPr lang="en-US" altLang="ko-KR" sz="2000" dirty="0"/>
              <a:t>,</a:t>
            </a:r>
            <a:r>
              <a:rPr lang="ko-KR" altLang="ko-KR" sz="2000" dirty="0"/>
              <a:t> 발작</a:t>
            </a:r>
            <a:r>
              <a:rPr lang="en-US" altLang="ko-KR" sz="2000" dirty="0"/>
              <a:t>,</a:t>
            </a:r>
            <a:r>
              <a:rPr lang="ko-KR" altLang="ko-KR" sz="2000" dirty="0"/>
              <a:t> 뇌성마비</a:t>
            </a:r>
            <a:r>
              <a:rPr lang="en-US" altLang="ko-KR" sz="2000" dirty="0"/>
              <a:t>,</a:t>
            </a:r>
            <a:r>
              <a:rPr lang="ko-KR" altLang="ko-KR" sz="2000" dirty="0"/>
              <a:t> 신경근육질환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근이영양증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척수성</a:t>
            </a:r>
            <a:r>
              <a:rPr lang="ko-KR" altLang="ko-KR" sz="2000" dirty="0"/>
              <a:t> 근위축증(SMA)</a:t>
            </a:r>
            <a:r>
              <a:rPr lang="en-US" altLang="ko-KR" sz="2000" dirty="0"/>
              <a:t>,</a:t>
            </a:r>
            <a:r>
              <a:rPr lang="ko-KR" altLang="ko-KR" sz="2000" dirty="0"/>
              <a:t> 선천성 심장질환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팔로사징증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좌심형성부전증후군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대혈관전위증</a:t>
            </a:r>
            <a:r>
              <a:rPr lang="en-US" altLang="ko-KR" sz="2000" dirty="0"/>
              <a:t>,</a:t>
            </a:r>
            <a:r>
              <a:rPr lang="ko-KR" altLang="ko-KR" sz="2000" dirty="0"/>
              <a:t> 폐고혈압 호흡부전</a:t>
            </a:r>
            <a:r>
              <a:rPr lang="en-US" altLang="ko-KR" sz="2000" dirty="0"/>
              <a:t>,</a:t>
            </a:r>
            <a:r>
              <a:rPr lang="ko-KR" altLang="ko-KR" sz="2000" dirty="0"/>
              <a:t> 기관절개술</a:t>
            </a:r>
            <a:r>
              <a:rPr lang="en-US" altLang="ko-KR" sz="2000" dirty="0"/>
              <a:t>,</a:t>
            </a:r>
            <a:r>
              <a:rPr lang="ko-KR" altLang="ko-KR" sz="2000" dirty="0"/>
              <a:t> 인공호흡기 사용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기관지폐이형성증</a:t>
            </a:r>
            <a:r>
              <a:rPr lang="ko-KR" altLang="ko-KR" sz="2000" dirty="0"/>
              <a:t>(BPD)</a:t>
            </a:r>
            <a:r>
              <a:rPr lang="en-US" altLang="ko-KR" sz="2000" dirty="0"/>
              <a:t>, </a:t>
            </a:r>
            <a:r>
              <a:rPr lang="ko-KR" altLang="ko-KR" sz="2000" dirty="0"/>
              <a:t>미숙아</a:t>
            </a:r>
            <a:r>
              <a:rPr lang="en-US" altLang="ko-KR" sz="2000" dirty="0"/>
              <a:t>,</a:t>
            </a:r>
            <a:r>
              <a:rPr lang="ko-KR" altLang="ko-KR" sz="2000" dirty="0"/>
              <a:t> 조산아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프라더</a:t>
            </a:r>
            <a:r>
              <a:rPr lang="ko-KR" altLang="ko-KR" sz="2000" dirty="0"/>
              <a:t>-윌리 증후군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피에르</a:t>
            </a:r>
            <a:r>
              <a:rPr lang="ko-KR" altLang="ko-KR" sz="2000" dirty="0"/>
              <a:t> 로빈 증후군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소하악증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두개안면기형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수두증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척수수막류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이분척추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연골무형성증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2256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E3AF-8E0F-03BA-781E-4B346D78C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9699"/>
          </a:xfrm>
        </p:spPr>
        <p:txBody>
          <a:bodyPr>
            <a:noAutofit/>
          </a:bodyPr>
          <a:lstStyle/>
          <a:p>
            <a:r>
              <a:rPr lang="ko-KR" altLang="en-US" sz="3600" dirty="0"/>
              <a:t>채널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42C916-BEE2-DE39-9D38-87D47AECD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875"/>
            <a:ext cx="10515600" cy="5272088"/>
          </a:xfrm>
        </p:spPr>
        <p:txBody>
          <a:bodyPr/>
          <a:lstStyle/>
          <a:p>
            <a:r>
              <a:rPr lang="pt-BR" altLang="ko-KR" sz="2000" dirty="0"/>
              <a:t>F3-M2, F4-M1, C3-M2, C4-M1, O1-M2, O2-M1, (Cz-O1)</a:t>
            </a:r>
          </a:p>
          <a:p>
            <a:r>
              <a:rPr lang="pt-BR" altLang="ko-KR" sz="2000" dirty="0"/>
              <a:t>-&gt; </a:t>
            </a:r>
            <a:r>
              <a:rPr lang="ko-KR" altLang="en-US" sz="2000" dirty="0" err="1"/>
              <a:t>전두부</a:t>
            </a:r>
            <a:r>
              <a:rPr lang="en-US" altLang="ko-KR" sz="2000" dirty="0"/>
              <a:t>, </a:t>
            </a:r>
            <a:r>
              <a:rPr lang="ko-KR" altLang="en-US" sz="2000" dirty="0"/>
              <a:t>중앙부</a:t>
            </a:r>
            <a:r>
              <a:rPr lang="en-US" altLang="ko-KR" sz="2000" dirty="0"/>
              <a:t>, </a:t>
            </a:r>
            <a:r>
              <a:rPr lang="ko-KR" altLang="en-US" sz="2000" dirty="0"/>
              <a:t>후두부 대표하는 채널</a:t>
            </a:r>
            <a:endParaRPr lang="pt-BR" altLang="ko-KR" sz="2000" dirty="0"/>
          </a:p>
          <a:p>
            <a:r>
              <a:rPr lang="ko-KR" altLang="en-US" sz="2000" dirty="0"/>
              <a:t>홀수 좌측</a:t>
            </a:r>
            <a:r>
              <a:rPr lang="en-US" altLang="ko-KR" sz="2000" dirty="0"/>
              <a:t>, </a:t>
            </a:r>
            <a:r>
              <a:rPr lang="ko-KR" altLang="en-US" sz="2000" dirty="0"/>
              <a:t>짝수 우측</a:t>
            </a:r>
            <a:endParaRPr lang="pt-BR" altLang="ko-KR" sz="2000" dirty="0"/>
          </a:p>
          <a:p>
            <a:r>
              <a:rPr lang="en-US" altLang="ko-KR" sz="2000" dirty="0"/>
              <a:t>F: </a:t>
            </a:r>
            <a:r>
              <a:rPr lang="ko-KR" altLang="en-US" sz="2000" dirty="0"/>
              <a:t>전두엽</a:t>
            </a:r>
            <a:r>
              <a:rPr lang="en-US" altLang="ko-KR" sz="2000" dirty="0"/>
              <a:t>-N1</a:t>
            </a:r>
            <a:r>
              <a:rPr lang="ko-KR" altLang="en-US" sz="2000" dirty="0"/>
              <a:t>에서 잠들기 시작했을 때 변화 관찰 용이</a:t>
            </a:r>
            <a:r>
              <a:rPr lang="en-US" altLang="ko-KR" sz="2000" dirty="0"/>
              <a:t>, REM</a:t>
            </a:r>
            <a:r>
              <a:rPr lang="ko-KR" altLang="en-US" sz="2000" dirty="0"/>
              <a:t> 변화 관찰 용이</a:t>
            </a:r>
            <a:endParaRPr lang="en-US" altLang="ko-KR" sz="2000" dirty="0"/>
          </a:p>
          <a:p>
            <a:r>
              <a:rPr lang="en-US" altLang="ko-KR" sz="2000" dirty="0"/>
              <a:t>C: </a:t>
            </a:r>
            <a:r>
              <a:rPr lang="ko-KR" altLang="en-US" sz="2000" dirty="0"/>
              <a:t>중심부</a:t>
            </a:r>
            <a:r>
              <a:rPr lang="en-US" altLang="ko-KR" sz="2000" dirty="0"/>
              <a:t>-N2 </a:t>
            </a:r>
            <a:r>
              <a:rPr lang="ko-KR" altLang="en-US" sz="2000" dirty="0"/>
              <a:t>수면 특징 파악 </a:t>
            </a:r>
            <a:endParaRPr lang="en-US" altLang="ko-KR" sz="2000" dirty="0"/>
          </a:p>
          <a:p>
            <a:r>
              <a:rPr lang="en-US" altLang="ko-KR" sz="2000" dirty="0"/>
              <a:t>O: </a:t>
            </a:r>
            <a:r>
              <a:rPr lang="ko-KR" altLang="en-US" sz="2000" dirty="0" err="1"/>
              <a:t>후두엽</a:t>
            </a:r>
            <a:r>
              <a:rPr lang="en-US" altLang="ko-KR" sz="2000" dirty="0"/>
              <a:t>- </a:t>
            </a:r>
            <a:r>
              <a:rPr lang="ko-KR" altLang="en-US" sz="2000" dirty="0" err="1"/>
              <a:t>알파파</a:t>
            </a:r>
            <a:r>
              <a:rPr lang="ko-KR" altLang="en-US" sz="2000" dirty="0"/>
              <a:t> 관련</a:t>
            </a:r>
            <a:r>
              <a:rPr lang="en-US" altLang="ko-KR" sz="2000" dirty="0"/>
              <a:t>(wake</a:t>
            </a:r>
            <a:r>
              <a:rPr lang="ko-KR" altLang="en-US" sz="2000" dirty="0"/>
              <a:t>와 </a:t>
            </a:r>
            <a:r>
              <a:rPr lang="en-US" altLang="ko-KR" sz="2000" dirty="0"/>
              <a:t>N1 </a:t>
            </a:r>
            <a:r>
              <a:rPr lang="ko-KR" altLang="en-US" sz="2000" dirty="0"/>
              <a:t>구분 용이</a:t>
            </a:r>
            <a:r>
              <a:rPr lang="en-US" altLang="ko-KR" sz="2000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D2DE33-B4D6-A4B6-AC5A-A2D060462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878766"/>
              </p:ext>
            </p:extLst>
          </p:nvPr>
        </p:nvGraphicFramePr>
        <p:xfrm>
          <a:off x="917575" y="3429000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084460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854609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7011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채널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측정 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72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F3-M2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전두엽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각성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78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F4-M2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전두엽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각성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91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C3-M2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중심부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방추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62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C4-M1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중심부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방추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8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O1-M2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후두엽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알파파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09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O2-M1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후두엽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알파파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30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Cz-O1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정중앙에서 후두 사이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깊은 수면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2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2BB8A-8E34-6933-AABA-7F0117B345E9}"/>
              </a:ext>
            </a:extLst>
          </p:cNvPr>
          <p:cNvSpPr txBox="1"/>
          <p:nvPr/>
        </p:nvSpPr>
        <p:spPr>
          <a:xfrm>
            <a:off x="6096000" y="333375"/>
            <a:ext cx="579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# </a:t>
            </a:r>
            <a:r>
              <a:rPr lang="ko-KR" altLang="ko-KR" b="1" dirty="0" err="1"/>
              <a:t>Positive</a:t>
            </a:r>
            <a:r>
              <a:rPr lang="ko-KR" altLang="ko-KR" b="1" dirty="0"/>
              <a:t>(</a:t>
            </a:r>
            <a:r>
              <a:rPr lang="ko-KR" altLang="ko-KR" b="1" dirty="0" err="1"/>
              <a:t>Desaturated</a:t>
            </a:r>
            <a:r>
              <a:rPr lang="ko-KR" altLang="ko-KR" b="1" dirty="0"/>
              <a:t>) Group</a:t>
            </a:r>
            <a:r>
              <a:rPr lang="en-US" altLang="ko-KR" b="1" dirty="0"/>
              <a:t>-N1</a:t>
            </a:r>
            <a:endParaRPr lang="ko-KR" altLang="ko-KR" dirty="0"/>
          </a:p>
          <a:p>
            <a:r>
              <a:rPr lang="ko-KR" altLang="ko-KR" dirty="0"/>
              <a:t>✅ PSG 전체에서 </a:t>
            </a:r>
            <a:r>
              <a:rPr lang="ko-KR" altLang="ko-KR" b="1" dirty="0"/>
              <a:t>**</a:t>
            </a:r>
            <a:r>
              <a:rPr lang="ko-KR" altLang="ko-KR" b="1" dirty="0" err="1"/>
              <a:t>Apnea</a:t>
            </a:r>
            <a:r>
              <a:rPr lang="ko-KR" altLang="ko-KR" b="1" dirty="0"/>
              <a:t>**</a:t>
            </a:r>
            <a:r>
              <a:rPr lang="ko-KR" altLang="ko-KR" dirty="0"/>
              <a:t> 이벤트가 최소 1회 이상 존재</a:t>
            </a:r>
          </a:p>
          <a:p>
            <a:r>
              <a:rPr lang="ko-KR" altLang="ko-KR" dirty="0"/>
              <a:t>✅ 해당 </a:t>
            </a:r>
            <a:r>
              <a:rPr lang="ko-KR" altLang="ko-KR" dirty="0" err="1"/>
              <a:t>Oxygen</a:t>
            </a:r>
            <a:r>
              <a:rPr lang="ko-KR" altLang="ko-KR" dirty="0"/>
              <a:t> </a:t>
            </a:r>
            <a:r>
              <a:rPr lang="ko-KR" altLang="ko-KR" dirty="0" err="1"/>
              <a:t>Desaturation</a:t>
            </a:r>
            <a:r>
              <a:rPr lang="ko-KR" altLang="ko-KR" dirty="0"/>
              <a:t> 동안 </a:t>
            </a:r>
            <a:r>
              <a:rPr lang="ko-KR" altLang="ko-KR" dirty="0" err="1"/>
              <a:t>SpO₂가</a:t>
            </a:r>
            <a:r>
              <a:rPr lang="ko-KR" altLang="ko-KR" dirty="0"/>
              <a:t> 90% 미만으로 감소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CEA4BD-7B07-9E0B-B4CA-636D7C011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39" y="2337949"/>
            <a:ext cx="7413786" cy="3609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A7E64-4741-0E5E-326D-AE7C7E5E3867}"/>
              </a:ext>
            </a:extLst>
          </p:cNvPr>
          <p:cNvSpPr txBox="1"/>
          <p:nvPr/>
        </p:nvSpPr>
        <p:spPr>
          <a:xfrm>
            <a:off x="298153" y="333375"/>
            <a:ext cx="557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 err="1"/>
              <a:t>전처리</a:t>
            </a:r>
            <a:r>
              <a:rPr lang="en-US" altLang="ko-KR" sz="2400" b="1" dirty="0"/>
              <a:t>(Desaturated vs </a:t>
            </a:r>
            <a:r>
              <a:rPr lang="en-US" altLang="ko-KR" sz="2400" b="1" dirty="0" err="1"/>
              <a:t>Undesaturated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3154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0D8B8-07AF-AA41-1246-F728A52FC8D1}"/>
              </a:ext>
            </a:extLst>
          </p:cNvPr>
          <p:cNvSpPr txBox="1"/>
          <p:nvPr/>
        </p:nvSpPr>
        <p:spPr>
          <a:xfrm>
            <a:off x="6029325" y="2247900"/>
            <a:ext cx="579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# </a:t>
            </a:r>
            <a:r>
              <a:rPr lang="ko-KR" altLang="ko-KR" b="1" dirty="0" err="1"/>
              <a:t>Positive</a:t>
            </a:r>
            <a:r>
              <a:rPr lang="ko-KR" altLang="ko-KR" b="1" dirty="0"/>
              <a:t>(</a:t>
            </a:r>
            <a:r>
              <a:rPr lang="ko-KR" altLang="ko-KR" b="1" dirty="0" err="1"/>
              <a:t>Desaturated</a:t>
            </a:r>
            <a:r>
              <a:rPr lang="ko-KR" altLang="ko-KR" b="1" dirty="0"/>
              <a:t>) Group</a:t>
            </a:r>
            <a:r>
              <a:rPr lang="en-US" altLang="ko-KR" b="1" dirty="0"/>
              <a:t>-N2</a:t>
            </a:r>
            <a:endParaRPr lang="ko-KR" altLang="ko-KR" dirty="0"/>
          </a:p>
          <a:p>
            <a:r>
              <a:rPr lang="ko-KR" altLang="ko-KR" dirty="0"/>
              <a:t>✅ PSG 전체에서 </a:t>
            </a:r>
            <a:r>
              <a:rPr lang="ko-KR" altLang="ko-KR" b="1" dirty="0"/>
              <a:t>**</a:t>
            </a:r>
            <a:r>
              <a:rPr lang="ko-KR" altLang="ko-KR" b="1" dirty="0" err="1"/>
              <a:t>Apnea</a:t>
            </a:r>
            <a:r>
              <a:rPr lang="ko-KR" altLang="ko-KR" b="1" dirty="0"/>
              <a:t>**</a:t>
            </a:r>
            <a:r>
              <a:rPr lang="ko-KR" altLang="ko-KR" dirty="0"/>
              <a:t> 이벤트가 최소 1회 이상 존재</a:t>
            </a:r>
          </a:p>
          <a:p>
            <a:r>
              <a:rPr lang="ko-KR" altLang="ko-KR" dirty="0"/>
              <a:t>✅ 해당 </a:t>
            </a:r>
            <a:r>
              <a:rPr lang="ko-KR" altLang="ko-KR" dirty="0" err="1"/>
              <a:t>Oxygen</a:t>
            </a:r>
            <a:r>
              <a:rPr lang="ko-KR" altLang="ko-KR" dirty="0"/>
              <a:t> </a:t>
            </a:r>
            <a:r>
              <a:rPr lang="ko-KR" altLang="ko-KR" dirty="0" err="1"/>
              <a:t>Desaturation</a:t>
            </a:r>
            <a:r>
              <a:rPr lang="ko-KR" altLang="ko-KR" dirty="0"/>
              <a:t> 동안 </a:t>
            </a:r>
            <a:r>
              <a:rPr lang="ko-KR" altLang="ko-KR" dirty="0" err="1"/>
              <a:t>SpO₂가</a:t>
            </a:r>
            <a:r>
              <a:rPr lang="ko-KR" altLang="ko-KR" dirty="0"/>
              <a:t> 90% 미만으로 감소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SpO2 &lt; 50 </a:t>
            </a:r>
            <a:r>
              <a:rPr lang="ko-KR" altLang="en-US" dirty="0"/>
              <a:t>미만 필터링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949559-0C4E-09C1-E4E5-2455FF53E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65" y="101429"/>
            <a:ext cx="4267419" cy="66551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D77631-171B-1651-46CF-4552CF4B7036}"/>
              </a:ext>
            </a:extLst>
          </p:cNvPr>
          <p:cNvSpPr txBox="1"/>
          <p:nvPr/>
        </p:nvSpPr>
        <p:spPr>
          <a:xfrm>
            <a:off x="5879803" y="485775"/>
            <a:ext cx="557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 err="1"/>
              <a:t>전처리</a:t>
            </a:r>
            <a:r>
              <a:rPr lang="en-US" altLang="ko-KR" sz="2400" b="1" dirty="0"/>
              <a:t>(Desaturated vs </a:t>
            </a:r>
            <a:r>
              <a:rPr lang="en-US" altLang="ko-KR" sz="2400" b="1" dirty="0" err="1"/>
              <a:t>Undesaturated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4226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412C-97BF-DA3B-5B19-829D85EB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F6526C-C527-99CB-46CD-4A558CB39901}"/>
              </a:ext>
            </a:extLst>
          </p:cNvPr>
          <p:cNvSpPr txBox="1"/>
          <p:nvPr/>
        </p:nvSpPr>
        <p:spPr>
          <a:xfrm>
            <a:off x="6029325" y="2247900"/>
            <a:ext cx="579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# </a:t>
            </a:r>
            <a:r>
              <a:rPr lang="ko-KR" altLang="ko-KR" b="1" dirty="0" err="1"/>
              <a:t>Positive</a:t>
            </a:r>
            <a:r>
              <a:rPr lang="ko-KR" altLang="ko-KR" b="1" dirty="0"/>
              <a:t>(</a:t>
            </a:r>
            <a:r>
              <a:rPr lang="ko-KR" altLang="ko-KR" b="1" dirty="0" err="1"/>
              <a:t>Desaturated</a:t>
            </a:r>
            <a:r>
              <a:rPr lang="ko-KR" altLang="ko-KR" b="1" dirty="0"/>
              <a:t>) Group</a:t>
            </a:r>
            <a:r>
              <a:rPr lang="en-US" altLang="ko-KR" b="1" dirty="0"/>
              <a:t>-N3</a:t>
            </a:r>
            <a:endParaRPr lang="ko-KR" altLang="ko-KR" dirty="0"/>
          </a:p>
          <a:p>
            <a:r>
              <a:rPr lang="ko-KR" altLang="ko-KR" dirty="0"/>
              <a:t>✅ PSG 전체에서 </a:t>
            </a:r>
            <a:r>
              <a:rPr lang="ko-KR" altLang="ko-KR" b="1" dirty="0"/>
              <a:t>**</a:t>
            </a:r>
            <a:r>
              <a:rPr lang="ko-KR" altLang="ko-KR" b="1" dirty="0" err="1"/>
              <a:t>Apnea</a:t>
            </a:r>
            <a:r>
              <a:rPr lang="ko-KR" altLang="ko-KR" b="1" dirty="0"/>
              <a:t>**</a:t>
            </a:r>
            <a:r>
              <a:rPr lang="ko-KR" altLang="ko-KR" dirty="0"/>
              <a:t> 이벤트가 최소 1회 이상 존재</a:t>
            </a:r>
          </a:p>
          <a:p>
            <a:r>
              <a:rPr lang="ko-KR" altLang="ko-KR" dirty="0"/>
              <a:t>✅ 해당 </a:t>
            </a:r>
            <a:r>
              <a:rPr lang="ko-KR" altLang="ko-KR" dirty="0" err="1"/>
              <a:t>Oxygen</a:t>
            </a:r>
            <a:r>
              <a:rPr lang="ko-KR" altLang="ko-KR" dirty="0"/>
              <a:t> </a:t>
            </a:r>
            <a:r>
              <a:rPr lang="ko-KR" altLang="ko-KR" dirty="0" err="1"/>
              <a:t>Desaturation</a:t>
            </a:r>
            <a:r>
              <a:rPr lang="ko-KR" altLang="ko-KR" dirty="0"/>
              <a:t> 동안 </a:t>
            </a:r>
            <a:r>
              <a:rPr lang="ko-KR" altLang="ko-KR" dirty="0" err="1"/>
              <a:t>SpO₂가</a:t>
            </a:r>
            <a:r>
              <a:rPr lang="ko-KR" altLang="ko-KR" dirty="0"/>
              <a:t> 90% 미만으로 감소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SpO2 &lt; 50 </a:t>
            </a:r>
            <a:r>
              <a:rPr lang="ko-KR" altLang="en-US" dirty="0"/>
              <a:t>미만 필터링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4E85A-B398-8222-8FCF-7E4E26473196}"/>
              </a:ext>
            </a:extLst>
          </p:cNvPr>
          <p:cNvSpPr txBox="1"/>
          <p:nvPr/>
        </p:nvSpPr>
        <p:spPr>
          <a:xfrm>
            <a:off x="5879803" y="485775"/>
            <a:ext cx="557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 err="1"/>
              <a:t>전처리</a:t>
            </a:r>
            <a:r>
              <a:rPr lang="en-US" altLang="ko-KR" sz="2400" b="1" dirty="0"/>
              <a:t>(Desaturated vs </a:t>
            </a:r>
            <a:r>
              <a:rPr lang="en-US" altLang="ko-KR" sz="2400" b="1" dirty="0" err="1"/>
              <a:t>Undesaturated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C1A5C2-0733-8584-4569-06403C478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67" y="485775"/>
            <a:ext cx="4178515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6F54D-C892-4602-1EF6-64C577A66513}"/>
              </a:ext>
            </a:extLst>
          </p:cNvPr>
          <p:cNvSpPr txBox="1"/>
          <p:nvPr/>
        </p:nvSpPr>
        <p:spPr>
          <a:xfrm>
            <a:off x="6096000" y="333375"/>
            <a:ext cx="579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# </a:t>
            </a:r>
            <a:r>
              <a:rPr lang="ko-KR" altLang="ko-KR" b="1" dirty="0" err="1"/>
              <a:t>Positive</a:t>
            </a:r>
            <a:r>
              <a:rPr lang="ko-KR" altLang="ko-KR" b="1" dirty="0"/>
              <a:t>(</a:t>
            </a:r>
            <a:r>
              <a:rPr lang="ko-KR" altLang="ko-KR" b="1" dirty="0" err="1"/>
              <a:t>Desaturated</a:t>
            </a:r>
            <a:r>
              <a:rPr lang="ko-KR" altLang="ko-KR" b="1" dirty="0"/>
              <a:t>) Group</a:t>
            </a:r>
            <a:r>
              <a:rPr lang="en-US" altLang="ko-KR" b="1" dirty="0"/>
              <a:t>-REM</a:t>
            </a:r>
            <a:endParaRPr lang="ko-KR" altLang="ko-KR" dirty="0"/>
          </a:p>
          <a:p>
            <a:r>
              <a:rPr lang="ko-KR" altLang="ko-KR" dirty="0"/>
              <a:t>✅ PSG 전체에서 </a:t>
            </a:r>
            <a:r>
              <a:rPr lang="ko-KR" altLang="ko-KR" b="1" dirty="0"/>
              <a:t>**</a:t>
            </a:r>
            <a:r>
              <a:rPr lang="ko-KR" altLang="ko-KR" b="1" dirty="0" err="1"/>
              <a:t>Apnea</a:t>
            </a:r>
            <a:r>
              <a:rPr lang="ko-KR" altLang="ko-KR" b="1" dirty="0"/>
              <a:t>**</a:t>
            </a:r>
            <a:r>
              <a:rPr lang="ko-KR" altLang="ko-KR" dirty="0"/>
              <a:t> 이벤트가 최소 1회 이상 존재</a:t>
            </a:r>
          </a:p>
          <a:p>
            <a:r>
              <a:rPr lang="ko-KR" altLang="ko-KR" dirty="0"/>
              <a:t>✅ 해당 </a:t>
            </a:r>
            <a:r>
              <a:rPr lang="ko-KR" altLang="ko-KR" dirty="0" err="1"/>
              <a:t>Oxygen</a:t>
            </a:r>
            <a:r>
              <a:rPr lang="ko-KR" altLang="ko-KR" dirty="0"/>
              <a:t> </a:t>
            </a:r>
            <a:r>
              <a:rPr lang="ko-KR" altLang="ko-KR" dirty="0" err="1"/>
              <a:t>Desaturation</a:t>
            </a:r>
            <a:r>
              <a:rPr lang="ko-KR" altLang="ko-KR" dirty="0"/>
              <a:t> 동안 </a:t>
            </a:r>
            <a:r>
              <a:rPr lang="ko-KR" altLang="ko-KR" dirty="0" err="1"/>
              <a:t>SpO₂가</a:t>
            </a:r>
            <a:r>
              <a:rPr lang="ko-KR" altLang="ko-KR" dirty="0"/>
              <a:t> 90% 미만으로 감소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SpO2 &lt; 50 </a:t>
            </a:r>
            <a:r>
              <a:rPr lang="ko-KR" altLang="en-US" dirty="0"/>
              <a:t>미만 필터링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63AB3C-1D15-83AB-BA24-FBB2D4F4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3" y="104604"/>
            <a:ext cx="4197566" cy="66487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9A3C15-2526-77AC-FBD6-357A0F25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11420"/>
            <a:ext cx="4254719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2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8846EF-FF68-EAAB-3D04-0B5C26A11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29" y="2019216"/>
            <a:ext cx="6648792" cy="3276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0FB2ED-8C7C-85CB-64AB-2F53908FF474}"/>
              </a:ext>
            </a:extLst>
          </p:cNvPr>
          <p:cNvSpPr txBox="1"/>
          <p:nvPr/>
        </p:nvSpPr>
        <p:spPr>
          <a:xfrm>
            <a:off x="6505575" y="762000"/>
            <a:ext cx="5848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 </a:t>
            </a:r>
            <a:r>
              <a:rPr lang="ko-KR" altLang="ko-KR" b="1" dirty="0" err="1"/>
              <a:t>Negative</a:t>
            </a:r>
            <a:r>
              <a:rPr lang="ko-KR" altLang="ko-KR" b="1" dirty="0"/>
              <a:t> (</a:t>
            </a:r>
            <a:r>
              <a:rPr lang="ko-KR" altLang="ko-KR" b="1" dirty="0" err="1"/>
              <a:t>Undesaturated</a:t>
            </a:r>
            <a:r>
              <a:rPr lang="ko-KR" altLang="ko-KR" b="1" dirty="0"/>
              <a:t> </a:t>
            </a:r>
            <a:r>
              <a:rPr lang="ko-KR" altLang="ko-KR" b="1" dirty="0" err="1"/>
              <a:t>group</a:t>
            </a:r>
            <a:r>
              <a:rPr lang="ko-KR" altLang="ko-KR" b="1" dirty="0"/>
              <a:t>) 환자 검증</a:t>
            </a:r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✅ PSG 전체에서 </a:t>
            </a:r>
            <a:r>
              <a:rPr lang="ko-KR" altLang="ko-KR" dirty="0" err="1"/>
              <a:t>Apnea</a:t>
            </a:r>
            <a:r>
              <a:rPr lang="ko-KR" altLang="ko-KR" dirty="0"/>
              <a:t> 없음</a:t>
            </a:r>
          </a:p>
          <a:p>
            <a:r>
              <a:rPr lang="ko-KR" altLang="ko-KR" dirty="0"/>
              <a:t>✅ PSG 전체에서 </a:t>
            </a:r>
            <a:r>
              <a:rPr lang="ko-KR" altLang="ko-KR" dirty="0" err="1"/>
              <a:t>SpO</a:t>
            </a:r>
            <a:r>
              <a:rPr lang="ko-KR" altLang="ko-KR" dirty="0"/>
              <a:t>₂ 95% 미만의 </a:t>
            </a:r>
            <a:r>
              <a:rPr lang="ko-KR" altLang="ko-KR" dirty="0" err="1"/>
              <a:t>Oxygen</a:t>
            </a:r>
            <a:r>
              <a:rPr lang="ko-KR" altLang="ko-KR" dirty="0"/>
              <a:t> </a:t>
            </a:r>
            <a:r>
              <a:rPr lang="ko-KR" altLang="ko-KR" dirty="0" err="1"/>
              <a:t>Desaturation</a:t>
            </a:r>
            <a:r>
              <a:rPr lang="ko-KR" altLang="ko-KR" dirty="0"/>
              <a:t>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Healthy Patient – 0</a:t>
            </a:r>
            <a:r>
              <a:rPr lang="ko-KR" altLang="en-US" dirty="0"/>
              <a:t>명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CD7C8-1A2C-962A-D0EB-BB15EC1F271F}"/>
              </a:ext>
            </a:extLst>
          </p:cNvPr>
          <p:cNvSpPr txBox="1"/>
          <p:nvPr/>
        </p:nvSpPr>
        <p:spPr>
          <a:xfrm>
            <a:off x="602953" y="571500"/>
            <a:ext cx="5572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 err="1"/>
              <a:t>전처리</a:t>
            </a:r>
            <a:r>
              <a:rPr lang="en-US" altLang="ko-KR" sz="2400" b="1" dirty="0"/>
              <a:t>(Desaturated vs </a:t>
            </a:r>
            <a:r>
              <a:rPr lang="en-US" altLang="ko-KR" sz="2400" b="1" dirty="0" err="1"/>
              <a:t>Undesaturated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0296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9F4E11-B310-4E79-ADB5-C3D16995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0220"/>
            <a:ext cx="6570246" cy="33629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EFE69B-4E0B-AD2D-9874-3D37C0EF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321" y="2666528"/>
            <a:ext cx="5640751" cy="36253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CB643-2292-CD63-DE9D-1B34703A126C}"/>
              </a:ext>
            </a:extLst>
          </p:cNvPr>
          <p:cNvSpPr txBox="1"/>
          <p:nvPr/>
        </p:nvSpPr>
        <p:spPr>
          <a:xfrm>
            <a:off x="7160964" y="680220"/>
            <a:ext cx="4142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논문과 </a:t>
            </a:r>
            <a:r>
              <a:rPr lang="ko-KR" altLang="en-US" sz="2000" dirty="0" err="1"/>
              <a:t>실제값</a:t>
            </a:r>
            <a:r>
              <a:rPr lang="en-US" altLang="ko-KR" sz="2000" dirty="0"/>
              <a:t>(100</a:t>
            </a:r>
            <a:r>
              <a:rPr lang="ko-KR" altLang="en-US" sz="2000" dirty="0"/>
              <a:t>명 대상</a:t>
            </a:r>
            <a:r>
              <a:rPr lang="en-US" altLang="ko-KR" sz="2000" dirty="0"/>
              <a:t>)</a:t>
            </a:r>
            <a:r>
              <a:rPr lang="ko-KR" altLang="en-US" sz="2000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181980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5F1EB-FE4C-965C-23EA-A1514F007136}"/>
              </a:ext>
            </a:extLst>
          </p:cNvPr>
          <p:cNvSpPr txBox="1"/>
          <p:nvPr/>
        </p:nvSpPr>
        <p:spPr>
          <a:xfrm>
            <a:off x="272884" y="257175"/>
            <a:ext cx="866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 Male vs Female EEG </a:t>
            </a:r>
            <a:r>
              <a:rPr lang="ko-KR" altLang="en-US" sz="2400" b="1" dirty="0"/>
              <a:t>주파수 대역별 </a:t>
            </a:r>
            <a:r>
              <a:rPr lang="en-US" altLang="ko-KR" sz="2400" b="1" dirty="0"/>
              <a:t>Power </a:t>
            </a:r>
            <a:r>
              <a:rPr lang="ko-KR" altLang="en-US" sz="2400" b="1" dirty="0"/>
              <a:t>차이</a:t>
            </a:r>
            <a:endParaRPr lang="en-US" altLang="ko-KR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D35B42-E4D0-818A-FB61-2C184E62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83" y="940101"/>
            <a:ext cx="4327691" cy="29590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88105A-B077-15CF-26D0-6366CEAA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526" y="963585"/>
            <a:ext cx="4327691" cy="29855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1C0A62-DD8E-4619-6BAC-97F674328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84" y="3943007"/>
            <a:ext cx="4444062" cy="2848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7AA26E-6044-5093-FEAF-477F32DD8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154" y="3899134"/>
            <a:ext cx="4569354" cy="3055091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482C2C9-9CC1-FA1D-78AE-B0385D109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61301"/>
              </p:ext>
            </p:extLst>
          </p:nvPr>
        </p:nvGraphicFramePr>
        <p:xfrm>
          <a:off x="9358217" y="157691"/>
          <a:ext cx="27359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84">
                  <a:extLst>
                    <a:ext uri="{9D8B030D-6E8A-4147-A177-3AD203B41FA5}">
                      <a16:colId xmlns:a16="http://schemas.microsoft.com/office/drawing/2014/main" val="1644346856"/>
                    </a:ext>
                  </a:extLst>
                </a:gridCol>
                <a:gridCol w="1367984">
                  <a:extLst>
                    <a:ext uri="{9D8B030D-6E8A-4147-A177-3AD203B41FA5}">
                      <a16:colId xmlns:a16="http://schemas.microsoft.com/office/drawing/2014/main" val="543613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대역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주파수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36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델타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0.5-4Hz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73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4-8Hz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58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8-13Hz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416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베타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13-30Hz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29314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E6C9195-A67A-F8B3-33C7-7C895E9EC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11534"/>
              </p:ext>
            </p:extLst>
          </p:nvPr>
        </p:nvGraphicFramePr>
        <p:xfrm>
          <a:off x="9456032" y="2348599"/>
          <a:ext cx="273596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48">
                  <a:extLst>
                    <a:ext uri="{9D8B030D-6E8A-4147-A177-3AD203B41FA5}">
                      <a16:colId xmlns:a16="http://schemas.microsoft.com/office/drawing/2014/main" val="3850774123"/>
                    </a:ext>
                  </a:extLst>
                </a:gridCol>
                <a:gridCol w="2251720">
                  <a:extLst>
                    <a:ext uri="{9D8B030D-6E8A-4147-A177-3AD203B41FA5}">
                      <a16:colId xmlns:a16="http://schemas.microsoft.com/office/drawing/2014/main" val="651368864"/>
                    </a:ext>
                  </a:extLst>
                </a:gridCol>
              </a:tblGrid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파형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의미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257285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수면 시작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얕은 수면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(N1, N2)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2243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알파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잠에서 깨어나려는 경향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909285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델타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깊은 수면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(N3)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00507"/>
                  </a:ext>
                </a:extLst>
              </a:tr>
              <a:tr h="3658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베타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수면 중에는 많지 않음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빠른 뇌파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집중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각성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22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10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97F58-A197-FE19-0C88-C7D723254565}"/>
              </a:ext>
            </a:extLst>
          </p:cNvPr>
          <p:cNvSpPr txBox="1"/>
          <p:nvPr/>
        </p:nvSpPr>
        <p:spPr>
          <a:xfrm>
            <a:off x="272884" y="257175"/>
            <a:ext cx="8664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 Male vs Female EEG </a:t>
            </a:r>
            <a:r>
              <a:rPr lang="ko-KR" altLang="en-US" sz="2400" b="1" dirty="0"/>
              <a:t>주파수 대역별 </a:t>
            </a:r>
            <a:r>
              <a:rPr lang="en-US" altLang="ko-KR" sz="2400" b="1" dirty="0"/>
              <a:t>Power </a:t>
            </a:r>
            <a:r>
              <a:rPr lang="ko-KR" altLang="en-US" sz="2400" b="1" dirty="0"/>
              <a:t>차이</a:t>
            </a:r>
            <a:endParaRPr lang="en-US" altLang="ko-KR" sz="2400" b="1" dirty="0"/>
          </a:p>
          <a:p>
            <a:endParaRPr lang="en-US" altLang="ko-KR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F9DDF9-EE00-1F5A-A818-9BDE6AFE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59" y="1380555"/>
            <a:ext cx="8511044" cy="47794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330517C-1B0D-6760-0441-C81AF2D3F101}"/>
                  </a:ext>
                </a:extLst>
              </p14:cNvPr>
              <p14:cNvContentPartPr/>
              <p14:nvPr/>
            </p14:nvContentPartPr>
            <p14:xfrm>
              <a:off x="361725" y="2590605"/>
              <a:ext cx="8038440" cy="936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330517C-1B0D-6760-0441-C81AF2D3F1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25" y="2482965"/>
                <a:ext cx="81460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F95AD4F-5A27-84BF-1E5D-7A6BD9396DB7}"/>
                  </a:ext>
                </a:extLst>
              </p14:cNvPr>
              <p14:cNvContentPartPr/>
              <p14:nvPr/>
            </p14:nvContentPartPr>
            <p14:xfrm>
              <a:off x="418965" y="2799405"/>
              <a:ext cx="8039160" cy="135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F95AD4F-5A27-84BF-1E5D-7A6BD9396D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965" y="2691765"/>
                <a:ext cx="81468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420CCA8-ACF3-F9A3-F281-21CD5C6528D8}"/>
                  </a:ext>
                </a:extLst>
              </p14:cNvPr>
              <p14:cNvContentPartPr/>
              <p14:nvPr/>
            </p14:nvContentPartPr>
            <p14:xfrm>
              <a:off x="476205" y="4266765"/>
              <a:ext cx="7896600" cy="7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420CCA8-ACF3-F9A3-F281-21CD5C6528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2205" y="4050765"/>
                <a:ext cx="8004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69B68F3C-0B11-6C0B-7219-3C72884F143D}"/>
                  </a:ext>
                </a:extLst>
              </p14:cNvPr>
              <p14:cNvContentPartPr/>
              <p14:nvPr/>
            </p14:nvContentPartPr>
            <p14:xfrm>
              <a:off x="457125" y="4600485"/>
              <a:ext cx="7992000" cy="72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69B68F3C-0B11-6C0B-7219-3C72884F14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3125" y="4384485"/>
                <a:ext cx="8099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65EAB08E-A72A-830C-EEE7-69C1CFFD9B7E}"/>
                  </a:ext>
                </a:extLst>
              </p14:cNvPr>
              <p14:cNvContentPartPr/>
              <p14:nvPr/>
            </p14:nvContentPartPr>
            <p14:xfrm>
              <a:off x="476205" y="5085405"/>
              <a:ext cx="8010360" cy="13464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65EAB08E-A72A-830C-EEE7-69C1CFFD9B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2205" y="4977765"/>
                <a:ext cx="81180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35D85BCA-3775-125D-6340-2F108670CFFB}"/>
                  </a:ext>
                </a:extLst>
              </p14:cNvPr>
              <p14:cNvContentPartPr/>
              <p14:nvPr/>
            </p14:nvContentPartPr>
            <p14:xfrm>
              <a:off x="457125" y="5314725"/>
              <a:ext cx="7901280" cy="1627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35D85BCA-3775-125D-6340-2F108670CFF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3485" y="5206725"/>
                <a:ext cx="8008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447C274F-B3EF-57F7-9857-592404F1F45E}"/>
                  </a:ext>
                </a:extLst>
              </p14:cNvPr>
              <p14:cNvContentPartPr/>
              <p14:nvPr/>
            </p14:nvContentPartPr>
            <p14:xfrm>
              <a:off x="466125" y="6019605"/>
              <a:ext cx="7934760" cy="1908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447C274F-B3EF-57F7-9857-592404F1F4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2485" y="5911965"/>
                <a:ext cx="8042400" cy="2347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4857D34-5AEF-178A-F9C2-69DB236F2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780500"/>
              </p:ext>
            </p:extLst>
          </p:nvPr>
        </p:nvGraphicFramePr>
        <p:xfrm>
          <a:off x="9358217" y="157691"/>
          <a:ext cx="27359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84">
                  <a:extLst>
                    <a:ext uri="{9D8B030D-6E8A-4147-A177-3AD203B41FA5}">
                      <a16:colId xmlns:a16="http://schemas.microsoft.com/office/drawing/2014/main" val="1644346856"/>
                    </a:ext>
                  </a:extLst>
                </a:gridCol>
                <a:gridCol w="1367984">
                  <a:extLst>
                    <a:ext uri="{9D8B030D-6E8A-4147-A177-3AD203B41FA5}">
                      <a16:colId xmlns:a16="http://schemas.microsoft.com/office/drawing/2014/main" val="543613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대역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주파수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36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델타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0.5-4Hz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73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4-8Hz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58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8-13Hz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416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베타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13-30Hz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29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700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538C2-826C-353C-2E6B-5A802D53AF75}"/>
              </a:ext>
            </a:extLst>
          </p:cNvPr>
          <p:cNvSpPr txBox="1"/>
          <p:nvPr/>
        </p:nvSpPr>
        <p:spPr>
          <a:xfrm>
            <a:off x="272884" y="257175"/>
            <a:ext cx="8664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 Male vs Female EEG </a:t>
            </a:r>
            <a:r>
              <a:rPr lang="ko-KR" altLang="en-US" sz="2400" b="1" dirty="0"/>
              <a:t>주파수 대역별 </a:t>
            </a:r>
            <a:r>
              <a:rPr lang="en-US" altLang="ko-KR" sz="2400" b="1" dirty="0"/>
              <a:t>Power </a:t>
            </a:r>
            <a:r>
              <a:rPr lang="ko-KR" altLang="en-US" sz="2400" b="1" dirty="0"/>
              <a:t>차이</a:t>
            </a:r>
            <a:endParaRPr lang="en-US" altLang="ko-KR" sz="2400" b="1" dirty="0"/>
          </a:p>
          <a:p>
            <a:endParaRPr lang="en-US" altLang="ko-KR" sz="24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E06C946-A301-A849-7065-35F95C178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36321"/>
              </p:ext>
            </p:extLst>
          </p:nvPr>
        </p:nvGraphicFramePr>
        <p:xfrm>
          <a:off x="541319" y="1088172"/>
          <a:ext cx="8032602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3023959627"/>
                    </a:ext>
                  </a:extLst>
                </a:gridCol>
                <a:gridCol w="1698943">
                  <a:extLst>
                    <a:ext uri="{9D8B030D-6E8A-4147-A177-3AD203B41FA5}">
                      <a16:colId xmlns:a16="http://schemas.microsoft.com/office/drawing/2014/main" val="1594323929"/>
                    </a:ext>
                  </a:extLst>
                </a:gridCol>
                <a:gridCol w="2734077">
                  <a:extLst>
                    <a:ext uri="{9D8B030D-6E8A-4147-A177-3AD203B41FA5}">
                      <a16:colId xmlns:a16="http://schemas.microsoft.com/office/drawing/2014/main" val="3612233040"/>
                    </a:ext>
                  </a:extLst>
                </a:gridCol>
                <a:gridCol w="2734077">
                  <a:extLst>
                    <a:ext uri="{9D8B030D-6E8A-4147-A177-3AD203B41FA5}">
                      <a16:colId xmlns:a16="http://schemas.microsoft.com/office/drawing/2014/main" val="1002492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P-value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파형에 대한 해석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해석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3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(0.0429)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시작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얕은 수면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(N1, N2)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여성이 더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0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(0.0026)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잠에서 깨어나려는 경향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남성이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506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델타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(0.0003)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깊은 수면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(N3)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남성이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983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베타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(0.0094)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중에는 많지 않음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빠른 뇌파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집중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각성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여성이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1329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REM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(0.0008)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시작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얕은 수면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(N1, N2)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여성이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389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(&lt;0.0001)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잠에서 깨어나려는 경향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여성이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3153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베타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(0.0025)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빠른 뇌파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집중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각성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불면증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여성이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61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26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F11DB-EC73-1A2E-D918-C84C08EF8DDC}"/>
              </a:ext>
            </a:extLst>
          </p:cNvPr>
          <p:cNvSpPr txBox="1"/>
          <p:nvPr/>
        </p:nvSpPr>
        <p:spPr>
          <a:xfrm>
            <a:off x="272884" y="257175"/>
            <a:ext cx="866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3. </a:t>
            </a:r>
            <a:r>
              <a:rPr lang="ko-KR" altLang="en-US" sz="2400" b="1" dirty="0"/>
              <a:t>중증질환 개수별로 차이가 있는지 확인</a:t>
            </a:r>
            <a:endParaRPr lang="en-US" altLang="ko-KR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F0CA1-CB44-FCE2-DE1D-A43ACC9231B8}"/>
              </a:ext>
            </a:extLst>
          </p:cNvPr>
          <p:cNvSpPr txBox="1"/>
          <p:nvPr/>
        </p:nvSpPr>
        <p:spPr>
          <a:xfrm>
            <a:off x="5253445" y="3081909"/>
            <a:ext cx="67645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중증 질환 개수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최대</a:t>
            </a:r>
            <a:r>
              <a:rPr lang="en-US" altLang="ko-KR" sz="2000" dirty="0"/>
              <a:t>: 24, </a:t>
            </a:r>
            <a:r>
              <a:rPr lang="ko-KR" altLang="en-US" sz="2000" dirty="0"/>
              <a:t>최소</a:t>
            </a:r>
            <a:r>
              <a:rPr lang="en-US" altLang="ko-KR" sz="2000" dirty="0"/>
              <a:t>: 3</a:t>
            </a:r>
          </a:p>
          <a:p>
            <a:endParaRPr lang="en-US" altLang="ko-KR" sz="2000" dirty="0"/>
          </a:p>
          <a:p>
            <a:r>
              <a:rPr lang="ko-KR" altLang="en-US" sz="2000" dirty="0"/>
              <a:t>사분위수 이용하여 질환 개수가 다음과 같을 때로 나누어 </a:t>
            </a:r>
            <a:r>
              <a:rPr lang="en-US" altLang="ko-KR" sz="2000" dirty="0"/>
              <a:t>4</a:t>
            </a:r>
            <a:r>
              <a:rPr lang="ko-KR" altLang="en-US" sz="2000" dirty="0"/>
              <a:t>개의 그룹으로 만듦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Q1 : 3-6 (6</a:t>
            </a:r>
            <a:r>
              <a:rPr lang="ko-KR" altLang="en-US" sz="2000" dirty="0"/>
              <a:t>명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Q2: 6-8 (27</a:t>
            </a:r>
            <a:r>
              <a:rPr lang="ko-KR" altLang="en-US" sz="2000" dirty="0"/>
              <a:t>명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Q3: 8-10.75 (24</a:t>
            </a:r>
            <a:r>
              <a:rPr lang="ko-KR" altLang="en-US" sz="2000" dirty="0"/>
              <a:t>명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Q4: 10.75-24 (35</a:t>
            </a:r>
            <a:r>
              <a:rPr lang="ko-KR" altLang="en-US" sz="2000" dirty="0"/>
              <a:t>명</a:t>
            </a:r>
            <a:r>
              <a:rPr lang="en-US" altLang="ko-KR" sz="2000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10025BD-3DA5-8F66-CD61-F8E20AD5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694"/>
          <a:stretch>
            <a:fillRect/>
          </a:stretch>
        </p:blipFill>
        <p:spPr>
          <a:xfrm>
            <a:off x="460415" y="828675"/>
            <a:ext cx="3975019" cy="47529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6FA8BC7-2482-3146-BCCC-DEB9B5361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85" y="828675"/>
            <a:ext cx="3476453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02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2F48BB-1374-C018-1BCF-0C3A187C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99" y="111033"/>
            <a:ext cx="5454721" cy="33426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05A241-4C9D-0075-944C-D35958E4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454" y="127955"/>
            <a:ext cx="5454721" cy="33087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CD2184-8D61-60AE-91A8-F2CE44289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25" y="3526952"/>
            <a:ext cx="5330777" cy="33332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B2C569-A2D7-51EE-10BC-270677FAE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26" y="3400513"/>
            <a:ext cx="5330775" cy="345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0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10331-40EA-5D9F-796E-9F2A32F4A809}"/>
              </a:ext>
            </a:extLst>
          </p:cNvPr>
          <p:cNvSpPr txBox="1"/>
          <p:nvPr/>
        </p:nvSpPr>
        <p:spPr>
          <a:xfrm>
            <a:off x="541089" y="337320"/>
            <a:ext cx="113365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중증질환 개수별로 차이가 있는지 확인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ko-KR" sz="2000" dirty="0" err="1"/>
              <a:t>Kruskal</a:t>
            </a:r>
            <a:r>
              <a:rPr lang="ko-KR" altLang="ko-KR" sz="2000" dirty="0"/>
              <a:t>–</a:t>
            </a:r>
            <a:r>
              <a:rPr lang="ko-KR" altLang="ko-KR" sz="2000" dirty="0" err="1"/>
              <a:t>Wallis</a:t>
            </a:r>
            <a:r>
              <a:rPr lang="ko-KR" altLang="ko-KR" sz="2000" dirty="0"/>
              <a:t> 검정</a:t>
            </a:r>
            <a:r>
              <a:rPr lang="en-US" altLang="ko-KR" sz="2000" dirty="0"/>
              <a:t>: </a:t>
            </a:r>
            <a:r>
              <a:rPr lang="ko-KR" altLang="ko-KR" sz="2000" dirty="0"/>
              <a:t>3개 이상의 독립된 그룹의 분포가 </a:t>
            </a:r>
            <a:r>
              <a:rPr lang="ko-KR" altLang="ko-KR" sz="2000" dirty="0" err="1"/>
              <a:t>같은지</a:t>
            </a:r>
            <a:r>
              <a:rPr lang="ko-KR" altLang="ko-KR" sz="2000" dirty="0"/>
              <a:t> 비교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ko-KR" dirty="0" err="1"/>
              <a:t>Delta_rel</a:t>
            </a:r>
            <a:r>
              <a:rPr lang="ko-KR" altLang="ko-KR" dirty="0"/>
              <a:t> </a:t>
            </a:r>
            <a:r>
              <a:rPr lang="ko-KR" altLang="ko-KR" dirty="0" err="1"/>
              <a:t>H</a:t>
            </a:r>
            <a:r>
              <a:rPr lang="ko-KR" altLang="ko-KR" dirty="0"/>
              <a:t> = 4.503 </a:t>
            </a:r>
            <a:r>
              <a:rPr lang="ko-KR" altLang="ko-KR" dirty="0" err="1"/>
              <a:t>p</a:t>
            </a:r>
            <a:r>
              <a:rPr lang="ko-KR" altLang="ko-KR" dirty="0"/>
              <a:t> = 0.2120 </a:t>
            </a:r>
            <a:endParaRPr lang="en-US" altLang="ko-KR" dirty="0"/>
          </a:p>
          <a:p>
            <a:r>
              <a:rPr lang="ko-KR" altLang="ko-KR" dirty="0" err="1"/>
              <a:t>Theta_rel</a:t>
            </a:r>
            <a:r>
              <a:rPr lang="ko-KR" altLang="ko-KR" dirty="0"/>
              <a:t> </a:t>
            </a:r>
            <a:r>
              <a:rPr lang="ko-KR" altLang="ko-KR" dirty="0" err="1"/>
              <a:t>H</a:t>
            </a:r>
            <a:r>
              <a:rPr lang="ko-KR" altLang="ko-KR" dirty="0"/>
              <a:t> = 1.368 </a:t>
            </a:r>
            <a:r>
              <a:rPr lang="ko-KR" altLang="ko-KR" dirty="0" err="1"/>
              <a:t>p</a:t>
            </a:r>
            <a:r>
              <a:rPr lang="ko-KR" altLang="ko-KR" dirty="0"/>
              <a:t> = 0.7130</a:t>
            </a:r>
            <a:endParaRPr lang="en-US" altLang="ko-KR" dirty="0"/>
          </a:p>
          <a:p>
            <a:r>
              <a:rPr lang="ko-KR" altLang="ko-KR" dirty="0" err="1"/>
              <a:t>Alpha_rel</a:t>
            </a:r>
            <a:r>
              <a:rPr lang="ko-KR" altLang="ko-KR" dirty="0"/>
              <a:t> </a:t>
            </a:r>
            <a:r>
              <a:rPr lang="ko-KR" altLang="ko-KR" dirty="0" err="1"/>
              <a:t>H</a:t>
            </a:r>
            <a:r>
              <a:rPr lang="ko-KR" altLang="ko-KR" dirty="0"/>
              <a:t> = 3.425 </a:t>
            </a:r>
            <a:r>
              <a:rPr lang="ko-KR" altLang="ko-KR" dirty="0" err="1"/>
              <a:t>p</a:t>
            </a:r>
            <a:r>
              <a:rPr lang="ko-KR" altLang="ko-KR" dirty="0"/>
              <a:t> = 0.3306 </a:t>
            </a:r>
            <a:endParaRPr lang="en-US" altLang="ko-KR" dirty="0"/>
          </a:p>
          <a:p>
            <a:r>
              <a:rPr lang="ko-KR" altLang="ko-KR" dirty="0" err="1"/>
              <a:t>Beta_rel</a:t>
            </a:r>
            <a:r>
              <a:rPr lang="ko-KR" altLang="ko-KR" dirty="0"/>
              <a:t> </a:t>
            </a:r>
            <a:r>
              <a:rPr lang="ko-KR" altLang="ko-KR" dirty="0" err="1"/>
              <a:t>H</a:t>
            </a:r>
            <a:r>
              <a:rPr lang="ko-KR" altLang="ko-KR" dirty="0"/>
              <a:t> = 3.259 </a:t>
            </a:r>
            <a:r>
              <a:rPr lang="ko-KR" altLang="ko-KR" dirty="0" err="1"/>
              <a:t>p</a:t>
            </a:r>
            <a:r>
              <a:rPr lang="ko-KR" altLang="ko-KR" dirty="0"/>
              <a:t> = 0.3533</a:t>
            </a:r>
            <a:endParaRPr lang="en-US" altLang="ko-KR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-&gt; P-value &gt; 0.05 </a:t>
            </a:r>
            <a:r>
              <a:rPr lang="ko-KR" altLang="en-US" sz="2000" dirty="0"/>
              <a:t>이므로 중증질환 그룹 간 </a:t>
            </a:r>
            <a:r>
              <a:rPr lang="en-US" altLang="ko-KR" sz="2000" dirty="0"/>
              <a:t>relative power</a:t>
            </a:r>
            <a:r>
              <a:rPr lang="ko-KR" altLang="en-US" sz="2000" dirty="0"/>
              <a:t>의 유의한 차이는 발견되지 않음</a:t>
            </a:r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37258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DF484-00EA-BCBB-E5A5-DA95BEE93B83}"/>
              </a:ext>
            </a:extLst>
          </p:cNvPr>
          <p:cNvSpPr txBox="1"/>
          <p:nvPr/>
        </p:nvSpPr>
        <p:spPr>
          <a:xfrm>
            <a:off x="541089" y="337320"/>
            <a:ext cx="1133658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중증질환 개수별로 차이가 있는지 확인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dirty="0"/>
              <a:t>Spearman Correlation </a:t>
            </a:r>
            <a:r>
              <a:rPr lang="ko-KR" altLang="ko-KR" sz="2000" dirty="0"/>
              <a:t>검정</a:t>
            </a:r>
            <a:r>
              <a:rPr lang="en-US" altLang="ko-KR" sz="2000" dirty="0"/>
              <a:t>: </a:t>
            </a:r>
            <a:r>
              <a:rPr lang="ko-KR" altLang="ko-KR" sz="2000" dirty="0"/>
              <a:t>질환이 많아질수록 </a:t>
            </a:r>
            <a:r>
              <a:rPr lang="ko-KR" altLang="ko-KR" sz="2000" dirty="0" err="1"/>
              <a:t>EEG가</a:t>
            </a:r>
            <a:r>
              <a:rPr lang="ko-KR" altLang="ko-KR" sz="2000" dirty="0"/>
              <a:t> 어떻게 변하는</a:t>
            </a:r>
            <a:r>
              <a:rPr lang="ko-KR" altLang="en-US" sz="2000" dirty="0"/>
              <a:t>지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dirty="0" err="1"/>
              <a:t>Delta_rel</a:t>
            </a:r>
            <a:endParaRPr lang="en-US" altLang="ko-KR" dirty="0"/>
          </a:p>
          <a:p>
            <a:r>
              <a:rPr lang="en-US" altLang="ko-KR" dirty="0"/>
              <a:t>rho = -0.197, p = 0.2575</a:t>
            </a:r>
          </a:p>
          <a:p>
            <a:endParaRPr lang="en-US" altLang="ko-KR" dirty="0"/>
          </a:p>
          <a:p>
            <a:r>
              <a:rPr lang="en-US" altLang="ko-KR" dirty="0" err="1"/>
              <a:t>Theta_rel</a:t>
            </a:r>
            <a:endParaRPr lang="en-US" altLang="ko-KR" dirty="0"/>
          </a:p>
          <a:p>
            <a:r>
              <a:rPr lang="en-US" altLang="ko-KR" dirty="0"/>
              <a:t>rho = 0.129, p = 0.4597</a:t>
            </a:r>
          </a:p>
          <a:p>
            <a:endParaRPr lang="en-US" altLang="ko-KR" dirty="0"/>
          </a:p>
          <a:p>
            <a:r>
              <a:rPr lang="en-US" altLang="ko-KR" dirty="0" err="1"/>
              <a:t>Alpha_rel</a:t>
            </a:r>
            <a:endParaRPr lang="en-US" altLang="ko-KR" dirty="0"/>
          </a:p>
          <a:p>
            <a:r>
              <a:rPr lang="en-US" altLang="ko-KR" dirty="0"/>
              <a:t>rho = 0.232, p = 0.1791 </a:t>
            </a:r>
            <a:r>
              <a:rPr lang="ko-KR" altLang="en-US" dirty="0"/>
              <a:t>질환 개수가 많을 수록 </a:t>
            </a:r>
            <a:r>
              <a:rPr lang="en-US" altLang="ko-KR" dirty="0"/>
              <a:t>alpha relative power </a:t>
            </a:r>
            <a:r>
              <a:rPr lang="ko-KR" altLang="en-US" dirty="0"/>
              <a:t>증가하는 경향 있지만 유의하진 않음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Beta_rel</a:t>
            </a:r>
            <a:endParaRPr lang="en-US" altLang="ko-KR" dirty="0"/>
          </a:p>
          <a:p>
            <a:r>
              <a:rPr lang="en-US" altLang="ko-KR" dirty="0"/>
              <a:t>rho = 0.178, p = 0.3060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-&gt; P-value &gt; 0.05 </a:t>
            </a:r>
            <a:r>
              <a:rPr lang="ko-KR" altLang="en-US" sz="2000" dirty="0"/>
              <a:t>이므로 통계적으로 유의하지 않습니다</a:t>
            </a:r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17406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85FB-2A82-3446-A497-CE48C28A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D66613-E9A8-BFB1-4F9B-7FB722B5E767}"/>
              </a:ext>
            </a:extLst>
          </p:cNvPr>
          <p:cNvSpPr txBox="1"/>
          <p:nvPr/>
        </p:nvSpPr>
        <p:spPr>
          <a:xfrm>
            <a:off x="541089" y="337320"/>
            <a:ext cx="1133658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중증질환 개수별로 차이가 있는지 확인</a:t>
            </a:r>
            <a:endParaRPr lang="en-US" altLang="ko-KR" sz="2000" b="1" dirty="0"/>
          </a:p>
          <a:p>
            <a:r>
              <a:rPr lang="ko-KR" altLang="ko-KR" dirty="0"/>
              <a:t>채널별 </a:t>
            </a:r>
            <a:r>
              <a:rPr lang="ko-KR" altLang="ko-KR" dirty="0" err="1"/>
              <a:t>band</a:t>
            </a:r>
            <a:r>
              <a:rPr lang="ko-KR" altLang="ko-KR" dirty="0"/>
              <a:t> </a:t>
            </a:r>
            <a:r>
              <a:rPr lang="ko-KR" altLang="ko-KR" dirty="0" err="1"/>
              <a:t>power</a:t>
            </a:r>
            <a:r>
              <a:rPr lang="ko-KR" altLang="ko-KR" dirty="0"/>
              <a:t> 분석 (F3, F4, C3, C4, O1, O2를 따로 계산)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각 채널에서 EEG </a:t>
            </a:r>
            <a:r>
              <a:rPr lang="ko-KR" altLang="ko-KR" dirty="0" err="1"/>
              <a:t>feature가</a:t>
            </a:r>
            <a:r>
              <a:rPr lang="ko-KR" altLang="ko-KR" dirty="0"/>
              <a:t> 중증도(NUM_SEVERE_DX)와 관련이 있는지 계산 </a:t>
            </a:r>
            <a:endParaRPr lang="en-US" altLang="ko-KR" dirty="0"/>
          </a:p>
          <a:p>
            <a:r>
              <a:rPr lang="ko-KR" altLang="ko-KR" dirty="0"/>
              <a:t>(</a:t>
            </a:r>
            <a:r>
              <a:rPr lang="ko-KR" altLang="ko-KR" dirty="0" err="1"/>
              <a:t>ex</a:t>
            </a:r>
            <a:r>
              <a:rPr lang="ko-KR" altLang="ko-KR" dirty="0"/>
              <a:t>. 중증 진단 개수가 많아질수록 O2의 </a:t>
            </a:r>
            <a:r>
              <a:rPr lang="ko-KR" altLang="ko-KR" dirty="0" err="1"/>
              <a:t>Theta</a:t>
            </a:r>
            <a:r>
              <a:rPr lang="ko-KR" altLang="ko-KR" dirty="0"/>
              <a:t> </a:t>
            </a:r>
            <a:r>
              <a:rPr lang="ko-KR" altLang="ko-KR" dirty="0" err="1"/>
              <a:t>relative</a:t>
            </a:r>
            <a:r>
              <a:rPr lang="ko-KR" altLang="ko-KR" dirty="0"/>
              <a:t> </a:t>
            </a:r>
            <a:r>
              <a:rPr lang="ko-KR" altLang="ko-KR" dirty="0" err="1"/>
              <a:t>power도</a:t>
            </a:r>
            <a:r>
              <a:rPr lang="ko-KR" altLang="ko-KR" dirty="0"/>
              <a:t> 증가하는 경향이 있는지)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N1</a:t>
            </a:r>
            <a:r>
              <a:rPr lang="ko-KR" altLang="en-US" dirty="0"/>
              <a:t>일 경우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표본이 </a:t>
            </a:r>
            <a:r>
              <a:rPr lang="en-US" altLang="ko-KR" dirty="0"/>
              <a:t>6</a:t>
            </a:r>
            <a:r>
              <a:rPr lang="ko-KR" altLang="en-US" dirty="0"/>
              <a:t>밖에 없으므로</a:t>
            </a:r>
            <a:endParaRPr lang="en-US" altLang="ko-KR" dirty="0"/>
          </a:p>
          <a:p>
            <a:r>
              <a:rPr lang="ko-KR" altLang="en-US" dirty="0"/>
              <a:t>유의</a:t>
            </a:r>
            <a:endParaRPr lang="en-US" altLang="ko-KR" dirty="0"/>
          </a:p>
          <a:p>
            <a:endParaRPr lang="en-US" altLang="ko-KR" dirty="0"/>
          </a:p>
          <a:p>
            <a:endParaRPr lang="ko-KR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E68CD96-7F49-2274-290F-F19061C4E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50946"/>
              </p:ext>
            </p:extLst>
          </p:nvPr>
        </p:nvGraphicFramePr>
        <p:xfrm>
          <a:off x="3031722" y="2020408"/>
          <a:ext cx="9160278" cy="4876340"/>
        </p:xfrm>
        <a:graphic>
          <a:graphicData uri="http://schemas.openxmlformats.org/drawingml/2006/table">
            <a:tbl>
              <a:tblPr/>
              <a:tblGrid>
                <a:gridCol w="1845557">
                  <a:extLst>
                    <a:ext uri="{9D8B030D-6E8A-4147-A177-3AD203B41FA5}">
                      <a16:colId xmlns:a16="http://schemas.microsoft.com/office/drawing/2014/main" val="3709023797"/>
                    </a:ext>
                  </a:extLst>
                </a:gridCol>
                <a:gridCol w="734555">
                  <a:extLst>
                    <a:ext uri="{9D8B030D-6E8A-4147-A177-3AD203B41FA5}">
                      <a16:colId xmlns:a16="http://schemas.microsoft.com/office/drawing/2014/main" val="1336893685"/>
                    </a:ext>
                  </a:extLst>
                </a:gridCol>
                <a:gridCol w="1076763">
                  <a:extLst>
                    <a:ext uri="{9D8B030D-6E8A-4147-A177-3AD203B41FA5}">
                      <a16:colId xmlns:a16="http://schemas.microsoft.com/office/drawing/2014/main" val="2842607447"/>
                    </a:ext>
                  </a:extLst>
                </a:gridCol>
                <a:gridCol w="5503403">
                  <a:extLst>
                    <a:ext uri="{9D8B030D-6E8A-4147-A177-3AD203B41FA5}">
                      <a16:colId xmlns:a16="http://schemas.microsoft.com/office/drawing/2014/main" val="239825326"/>
                    </a:ext>
                  </a:extLst>
                </a:gridCol>
              </a:tblGrid>
              <a:tr h="24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Feature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rho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 dirty="0" err="1"/>
                        <a:t>p</a:t>
                      </a:r>
                      <a:endParaRPr lang="ko-KR" sz="1400" dirty="0"/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해석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696572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F3_Delta_rel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-0.928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0.0077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F3의 Delta relative power가 감소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585868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C3_Delta_rel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-0.841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0.0361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C3의 Delta relative power가 감소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470838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O1_Delta_rel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-0.928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0.0077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O1의 Delta relative power가 감소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637741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O2_Delta_rel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-0.841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0.0361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O2의 Delta relative power가 감소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369259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F3_Beta_rel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0.812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 dirty="0"/>
                        <a:t>0.0499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F3의 Beta relative power가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30803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F4_Beta_rel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0.812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 dirty="0"/>
                        <a:t>0.0499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F4의 Beta relative power가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813854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C3_Beta_rel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0.841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 dirty="0"/>
                        <a:t>0.0361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C3의 Beta relative power가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129937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O1_Alpha_rel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0.841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0.0361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O1의 Alpha relative power가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966020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O1_Beta_rel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0.899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0.0149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중증질환 개수가 증가할수록 O1의 Beta relative power가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283316"/>
                  </a:ext>
                </a:extLst>
              </a:tr>
              <a:tr h="46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O2_Beta_rel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0.841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400"/>
                        <a:t>0.0361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중증질환 개수가 증가할수록 O2의 </a:t>
                      </a:r>
                      <a:r>
                        <a:rPr lang="ko-KR" sz="1400" dirty="0" err="1"/>
                        <a:t>Beta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relative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power가</a:t>
                      </a:r>
                      <a:r>
                        <a:rPr lang="ko-KR" sz="1400" dirty="0"/>
                        <a:t> 증가</a:t>
                      </a:r>
                    </a:p>
                  </a:txBody>
                  <a:tcPr marL="41840" marR="41840" marT="20920" marB="20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46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66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0C1E6-0CDE-5CA4-C247-0CB8B381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64D81-99A7-9E15-F2A3-B6D8C4441455}"/>
              </a:ext>
            </a:extLst>
          </p:cNvPr>
          <p:cNvSpPr txBox="1"/>
          <p:nvPr/>
        </p:nvSpPr>
        <p:spPr>
          <a:xfrm>
            <a:off x="541089" y="337320"/>
            <a:ext cx="113365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중증질환 개수별로 차이가 있는지 확인</a:t>
            </a:r>
            <a:endParaRPr lang="en-US" altLang="ko-KR" sz="2000" b="1" dirty="0"/>
          </a:p>
          <a:p>
            <a:r>
              <a:rPr lang="ko-KR" altLang="ko-KR" dirty="0"/>
              <a:t>채널별 </a:t>
            </a:r>
            <a:r>
              <a:rPr lang="ko-KR" altLang="ko-KR" dirty="0" err="1"/>
              <a:t>band</a:t>
            </a:r>
            <a:r>
              <a:rPr lang="ko-KR" altLang="ko-KR" dirty="0"/>
              <a:t> </a:t>
            </a:r>
            <a:r>
              <a:rPr lang="ko-KR" altLang="ko-KR" dirty="0" err="1"/>
              <a:t>power</a:t>
            </a:r>
            <a:r>
              <a:rPr lang="ko-KR" altLang="ko-KR" dirty="0"/>
              <a:t> 분석 (F3, F4, C3, C4, O1, O2를 따로 계산)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각 채널에서 EEG </a:t>
            </a:r>
            <a:r>
              <a:rPr lang="ko-KR" altLang="ko-KR" dirty="0" err="1"/>
              <a:t>feature가</a:t>
            </a:r>
            <a:r>
              <a:rPr lang="ko-KR" altLang="ko-KR" dirty="0"/>
              <a:t> 중증도(NUM_SEVERE_DX)와 관련이 있는지 계산 </a:t>
            </a:r>
            <a:endParaRPr lang="en-US" altLang="ko-KR" dirty="0"/>
          </a:p>
          <a:p>
            <a:r>
              <a:rPr lang="ko-KR" altLang="ko-KR" dirty="0"/>
              <a:t>(</a:t>
            </a:r>
            <a:r>
              <a:rPr lang="ko-KR" altLang="ko-KR" dirty="0" err="1"/>
              <a:t>ex</a:t>
            </a:r>
            <a:r>
              <a:rPr lang="ko-KR" altLang="ko-KR" dirty="0"/>
              <a:t>. 중증 진단 개수가 많아질수록 O2의 </a:t>
            </a:r>
            <a:r>
              <a:rPr lang="ko-KR" altLang="ko-KR" dirty="0" err="1"/>
              <a:t>Theta</a:t>
            </a:r>
            <a:r>
              <a:rPr lang="ko-KR" altLang="ko-KR" dirty="0"/>
              <a:t> </a:t>
            </a:r>
            <a:r>
              <a:rPr lang="ko-KR" altLang="ko-KR" dirty="0" err="1"/>
              <a:t>relative</a:t>
            </a:r>
            <a:r>
              <a:rPr lang="ko-KR" altLang="ko-KR" dirty="0"/>
              <a:t> </a:t>
            </a:r>
            <a:r>
              <a:rPr lang="ko-KR" altLang="ko-KR" dirty="0" err="1"/>
              <a:t>power도</a:t>
            </a:r>
            <a:r>
              <a:rPr lang="ko-KR" altLang="ko-KR" dirty="0"/>
              <a:t> 증가하는 경향이 있는지)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N2, REM</a:t>
            </a:r>
            <a:r>
              <a:rPr lang="ko-KR" altLang="en-US" dirty="0"/>
              <a:t>일 때 모든 </a:t>
            </a:r>
            <a:r>
              <a:rPr lang="en-US" altLang="ko-KR" dirty="0"/>
              <a:t>band</a:t>
            </a:r>
            <a:r>
              <a:rPr lang="ko-KR" altLang="en-US" dirty="0"/>
              <a:t>에서 통계적으로 유의한 결과가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N3</a:t>
            </a:r>
            <a:r>
              <a:rPr lang="ko-KR" altLang="en-US" dirty="0"/>
              <a:t>일 때</a:t>
            </a:r>
            <a:endParaRPr lang="en-US" altLang="ko-KR" dirty="0"/>
          </a:p>
          <a:p>
            <a:endParaRPr lang="ko-KR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336C4B-F266-60DD-0233-CEC220B42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107301"/>
              </p:ext>
            </p:extLst>
          </p:nvPr>
        </p:nvGraphicFramePr>
        <p:xfrm>
          <a:off x="676275" y="3230420"/>
          <a:ext cx="10687049" cy="1005840"/>
        </p:xfrm>
        <a:graphic>
          <a:graphicData uri="http://schemas.openxmlformats.org/drawingml/2006/table">
            <a:tbl>
              <a:tblPr/>
              <a:tblGrid>
                <a:gridCol w="2909451">
                  <a:extLst>
                    <a:ext uri="{9D8B030D-6E8A-4147-A177-3AD203B41FA5}">
                      <a16:colId xmlns:a16="http://schemas.microsoft.com/office/drawing/2014/main" val="3297428567"/>
                    </a:ext>
                  </a:extLst>
                </a:gridCol>
                <a:gridCol w="1524767">
                  <a:extLst>
                    <a:ext uri="{9D8B030D-6E8A-4147-A177-3AD203B41FA5}">
                      <a16:colId xmlns:a16="http://schemas.microsoft.com/office/drawing/2014/main" val="3662568422"/>
                    </a:ext>
                  </a:extLst>
                </a:gridCol>
                <a:gridCol w="1342266">
                  <a:extLst>
                    <a:ext uri="{9D8B030D-6E8A-4147-A177-3AD203B41FA5}">
                      <a16:colId xmlns:a16="http://schemas.microsoft.com/office/drawing/2014/main" val="1226578143"/>
                    </a:ext>
                  </a:extLst>
                </a:gridCol>
                <a:gridCol w="4910565">
                  <a:extLst>
                    <a:ext uri="{9D8B030D-6E8A-4147-A177-3AD203B41FA5}">
                      <a16:colId xmlns:a16="http://schemas.microsoft.com/office/drawing/2014/main" val="1842127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rho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710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C3_Theta_rel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0.419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/>
                        <a:t>0.0417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중증질환 개수가 증가할수록 C3의 </a:t>
                      </a:r>
                      <a:r>
                        <a:rPr lang="ko-KR" dirty="0" err="1"/>
                        <a:t>Theta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relative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power가</a:t>
                      </a:r>
                      <a:r>
                        <a:rPr lang="ko-KR" dirty="0"/>
                        <a:t>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5744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B1F7E-400B-0B8D-1591-0B2A3ACD7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12370"/>
              </p:ext>
            </p:extLst>
          </p:nvPr>
        </p:nvGraphicFramePr>
        <p:xfrm>
          <a:off x="7477125" y="4644255"/>
          <a:ext cx="4073843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385077412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651368864"/>
                    </a:ext>
                  </a:extLst>
                </a:gridCol>
              </a:tblGrid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파형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257285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세타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시작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얕은 수면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(N1, N2)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32243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잠에서 깨어나려는 경향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909285"/>
                  </a:ext>
                </a:extLst>
              </a:tr>
              <a:tr h="211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델타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깊은 수면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(N3)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00507"/>
                  </a:ext>
                </a:extLst>
              </a:tr>
              <a:tr h="3658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베타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수면 중에는 많지 않음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빠른 뇌파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집중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각성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22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51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49EF8-D0DB-A973-77A3-0D8F0C43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03849-C22E-A522-E48F-1602645CDCDD}"/>
              </a:ext>
            </a:extLst>
          </p:cNvPr>
          <p:cNvSpPr txBox="1"/>
          <p:nvPr/>
        </p:nvSpPr>
        <p:spPr>
          <a:xfrm>
            <a:off x="655389" y="604020"/>
            <a:ext cx="1133658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중증질환 개수별로 차이가 있는지 확인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ko-KR" dirty="0"/>
              <a:t>채널별 </a:t>
            </a:r>
            <a:r>
              <a:rPr lang="ko-KR" altLang="ko-KR" dirty="0" err="1"/>
              <a:t>band</a:t>
            </a:r>
            <a:r>
              <a:rPr lang="ko-KR" altLang="ko-KR" dirty="0"/>
              <a:t> </a:t>
            </a:r>
            <a:r>
              <a:rPr lang="ko-KR" altLang="ko-KR" dirty="0" err="1"/>
              <a:t>power</a:t>
            </a:r>
            <a:r>
              <a:rPr lang="ko-KR" altLang="ko-KR" dirty="0"/>
              <a:t> 분석 (F3, F4, C3, C4, O1, O2를 따로 계산)</a:t>
            </a:r>
            <a:endParaRPr lang="en-US" altLang="ko-KR" dirty="0"/>
          </a:p>
          <a:p>
            <a:endParaRPr lang="ko-KR" altLang="ko-KR" dirty="0"/>
          </a:p>
          <a:p>
            <a:r>
              <a:rPr lang="en-US" altLang="ko-KR" dirty="0"/>
              <a:t>FDR(False Discovery Rate):</a:t>
            </a:r>
            <a:r>
              <a:rPr lang="ko-KR" altLang="ko-KR" dirty="0"/>
              <a:t>유의하다고 나온 결과 중에서 </a:t>
            </a:r>
            <a:r>
              <a:rPr lang="ko-KR" altLang="ko-KR" dirty="0" err="1"/>
              <a:t>False</a:t>
            </a:r>
            <a:r>
              <a:rPr lang="ko-KR" altLang="ko-KR" dirty="0"/>
              <a:t> </a:t>
            </a:r>
            <a:r>
              <a:rPr lang="ko-KR" altLang="ko-KR" dirty="0" err="1"/>
              <a:t>Positive의</a:t>
            </a:r>
            <a:r>
              <a:rPr lang="ko-KR" altLang="ko-KR" dirty="0"/>
              <a:t> 비율을 조절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FDR </a:t>
            </a:r>
            <a:r>
              <a:rPr lang="ko-KR" altLang="en-US" dirty="0"/>
              <a:t>보정 후에 </a:t>
            </a:r>
            <a:r>
              <a:rPr lang="ko-KR" altLang="ko-KR" dirty="0"/>
              <a:t>어느 </a:t>
            </a:r>
            <a:r>
              <a:rPr lang="ko-KR" altLang="ko-KR" dirty="0" err="1"/>
              <a:t>feature도</a:t>
            </a:r>
            <a:r>
              <a:rPr lang="ko-KR" altLang="ko-KR" dirty="0"/>
              <a:t> 유의성을 유지하지 못</a:t>
            </a:r>
            <a:r>
              <a:rPr lang="ko-KR" altLang="en-US" dirty="0"/>
              <a:t>함</a:t>
            </a:r>
            <a:r>
              <a:rPr lang="ko-KR" altLang="ko-KR" dirty="0"/>
              <a:t>.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ko-KR" dirty="0"/>
              <a:t>중증질환 개수와 EEG </a:t>
            </a:r>
            <a:r>
              <a:rPr lang="ko-KR" altLang="ko-KR" dirty="0" err="1"/>
              <a:t>band</a:t>
            </a:r>
            <a:r>
              <a:rPr lang="ko-KR" altLang="ko-KR" dirty="0"/>
              <a:t> </a:t>
            </a:r>
            <a:r>
              <a:rPr lang="ko-KR" altLang="ko-KR" dirty="0" err="1"/>
              <a:t>power</a:t>
            </a:r>
            <a:r>
              <a:rPr lang="ko-KR" altLang="ko-KR" dirty="0"/>
              <a:t> 사이의 유의한 상관관계는 확인되지 않</a:t>
            </a:r>
            <a:r>
              <a:rPr lang="ko-KR" altLang="en-US" dirty="0"/>
              <a:t>음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66197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8FD16D-95F7-1912-5E2C-70A681A2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54" y="3429000"/>
            <a:ext cx="6636091" cy="2673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EF070-2ABC-E0A5-90A3-7ECEC89C0949}"/>
              </a:ext>
            </a:extLst>
          </p:cNvPr>
          <p:cNvSpPr txBox="1"/>
          <p:nvPr/>
        </p:nvSpPr>
        <p:spPr>
          <a:xfrm>
            <a:off x="655389" y="604020"/>
            <a:ext cx="113365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 </a:t>
            </a:r>
            <a:r>
              <a:rPr lang="ko-KR" altLang="en-US" sz="2000" b="1" dirty="0"/>
              <a:t>중증질환 개수 </a:t>
            </a:r>
            <a:r>
              <a:rPr lang="en-US" altLang="ko-KR" sz="2000" b="1" dirty="0"/>
              <a:t>0, </a:t>
            </a:r>
            <a:r>
              <a:rPr lang="ko-KR" altLang="en-US" sz="2000" b="1" dirty="0"/>
              <a:t>복용 약물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인 경우와 </a:t>
            </a:r>
            <a:r>
              <a:rPr lang="en-US" altLang="ko-KR" sz="2000" b="1" dirty="0"/>
              <a:t>Healthy</a:t>
            </a:r>
            <a:r>
              <a:rPr lang="ko-KR" altLang="en-US" sz="2000" b="1" dirty="0"/>
              <a:t>함의 상관관계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dirty="0"/>
              <a:t>중증질환 개수와 복용 약물이 아예 없는 환자 </a:t>
            </a:r>
            <a:r>
              <a:rPr lang="en-US" altLang="ko-KR" dirty="0"/>
              <a:t>14</a:t>
            </a:r>
            <a:r>
              <a:rPr lang="ko-KR" altLang="en-US" dirty="0"/>
              <a:t>명을 기준으로 </a:t>
            </a:r>
            <a:r>
              <a:rPr lang="en-US" altLang="ko-KR" dirty="0"/>
              <a:t>negative patient</a:t>
            </a:r>
            <a:r>
              <a:rPr lang="ko-KR" altLang="en-US" dirty="0"/>
              <a:t>인지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✅ PSG 전체에서 </a:t>
            </a:r>
            <a:r>
              <a:rPr lang="ko-KR" altLang="ko-KR" dirty="0" err="1"/>
              <a:t>Apnea</a:t>
            </a:r>
            <a:r>
              <a:rPr lang="ko-KR" altLang="ko-KR" dirty="0"/>
              <a:t> 없음</a:t>
            </a:r>
          </a:p>
          <a:p>
            <a:r>
              <a:rPr lang="ko-KR" altLang="ko-KR" dirty="0"/>
              <a:t>✅ PSG 전체에서 </a:t>
            </a:r>
            <a:r>
              <a:rPr lang="ko-KR" altLang="ko-KR" dirty="0" err="1"/>
              <a:t>SpO</a:t>
            </a:r>
            <a:r>
              <a:rPr lang="ko-KR" altLang="ko-KR" dirty="0"/>
              <a:t>₂ 95% 미만의 </a:t>
            </a:r>
            <a:r>
              <a:rPr lang="ko-KR" altLang="ko-KR" dirty="0" err="1"/>
              <a:t>Oxygen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단 한 명도 없음</a:t>
            </a:r>
            <a:r>
              <a:rPr lang="en-US" altLang="ko-KR" dirty="0"/>
              <a:t>(OSAT, 400Hz </a:t>
            </a:r>
            <a:r>
              <a:rPr lang="ko-KR" altLang="en-US" dirty="0"/>
              <a:t>제외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en-US" altLang="ko-KR" dirty="0"/>
              <a:t>8</a:t>
            </a:r>
            <a:r>
              <a:rPr lang="ko-KR" altLang="en-US" dirty="0"/>
              <a:t>명으로 남음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중증질환 개수와 </a:t>
            </a:r>
            <a:r>
              <a:rPr lang="en-US" altLang="ko-KR" dirty="0"/>
              <a:t>Healthy</a:t>
            </a:r>
            <a:r>
              <a:rPr lang="ko-KR" altLang="en-US" dirty="0"/>
              <a:t>함은 상관이 없다</a:t>
            </a:r>
            <a:r>
              <a:rPr lang="en-US" altLang="ko-KR" dirty="0"/>
              <a:t>(</a:t>
            </a:r>
            <a:r>
              <a:rPr lang="en-US" altLang="ko-KR" dirty="0" err="1"/>
              <a:t>undesaturated</a:t>
            </a:r>
            <a:r>
              <a:rPr lang="ko-KR" altLang="en-US" dirty="0"/>
              <a:t>와 관련 없음</a:t>
            </a:r>
            <a:r>
              <a:rPr lang="en-US" altLang="ko-KR" dirty="0"/>
              <a:t>)</a:t>
            </a:r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97200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3DDBDB-E802-6E5C-14CA-5A6D0A6C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0BB786B-F772-CE59-D9CF-614DF719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70" y="188126"/>
            <a:ext cx="10515600" cy="596900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100</a:t>
            </a:r>
            <a:r>
              <a:rPr lang="ko-KR" altLang="en-US" sz="2400" dirty="0"/>
              <a:t>개의 </a:t>
            </a:r>
            <a:r>
              <a:rPr lang="en-US" altLang="ko-KR" sz="2400" dirty="0" err="1"/>
              <a:t>edf</a:t>
            </a:r>
            <a:r>
              <a:rPr lang="en-US" altLang="ko-KR" sz="2400" dirty="0"/>
              <a:t> </a:t>
            </a:r>
            <a:r>
              <a:rPr lang="ko-KR" altLang="en-US" sz="2400" dirty="0"/>
              <a:t>이용하여 </a:t>
            </a:r>
            <a:r>
              <a:rPr lang="ko-KR" altLang="en-US" sz="2400" dirty="0" err="1"/>
              <a:t>전처리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DBC9D-624A-AEC6-A632-745A0AB0F8A3}"/>
              </a:ext>
            </a:extLst>
          </p:cNvPr>
          <p:cNvSpPr txBox="1"/>
          <p:nvPr/>
        </p:nvSpPr>
        <p:spPr>
          <a:xfrm>
            <a:off x="206291" y="1048418"/>
            <a:ext cx="95758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B. Signal Preprocessing-60Hz(</a:t>
            </a:r>
            <a:r>
              <a:rPr lang="ko-KR" altLang="en-US" sz="2000" dirty="0"/>
              <a:t>전원 에서 발생하는 잡음</a:t>
            </a:r>
            <a:r>
              <a:rPr lang="en-US" altLang="ko-KR" sz="2000" dirty="0"/>
              <a:t>), 120Hz </a:t>
            </a:r>
            <a:r>
              <a:rPr lang="ko-KR" altLang="en-US" sz="2000" dirty="0"/>
              <a:t>제거 후 </a:t>
            </a:r>
            <a:r>
              <a:rPr lang="en-US" altLang="ko-KR" sz="2000" dirty="0"/>
              <a:t>STFT</a:t>
            </a:r>
          </a:p>
          <a:p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Negative EEG </a:t>
            </a:r>
            <a:r>
              <a:rPr lang="ko-KR" altLang="en-US" sz="2000" dirty="0"/>
              <a:t>이용하여 </a:t>
            </a:r>
            <a:r>
              <a:rPr lang="en-US" altLang="ko-KR" sz="2000" dirty="0"/>
              <a:t>STFT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r>
              <a:rPr lang="ko-KR" altLang="ko-KR" sz="2000" dirty="0"/>
              <a:t>(</a:t>
            </a:r>
            <a:r>
              <a:rPr lang="en-US" altLang="ko-KR" sz="2000" dirty="0"/>
              <a:t>negative</a:t>
            </a:r>
            <a:r>
              <a:rPr lang="ko-KR" altLang="ko-KR" sz="2000" dirty="0"/>
              <a:t> EEG </a:t>
            </a:r>
            <a:r>
              <a:rPr lang="ko-KR" altLang="ko-KR" sz="2000" dirty="0" err="1"/>
              <a:t>epoch</a:t>
            </a:r>
            <a:r>
              <a:rPr lang="en-US" altLang="ko-KR" sz="2000" dirty="0"/>
              <a:t> </a:t>
            </a:r>
            <a:r>
              <a:rPr lang="ko-KR" altLang="en-US" sz="2000" dirty="0"/>
              <a:t>수</a:t>
            </a:r>
            <a:r>
              <a:rPr lang="ko-KR" altLang="ko-KR" sz="2000" dirty="0"/>
              <a:t>, </a:t>
            </a:r>
            <a:r>
              <a:rPr lang="en-US" altLang="ko-KR" sz="2000" dirty="0"/>
              <a:t>EEG </a:t>
            </a:r>
            <a:r>
              <a:rPr lang="ko-KR" altLang="ko-KR" sz="2000" dirty="0"/>
              <a:t>채널 수, 주파수 </a:t>
            </a:r>
            <a:r>
              <a:rPr lang="ko-KR" altLang="ko-KR" sz="2000" dirty="0" err="1"/>
              <a:t>bins</a:t>
            </a:r>
            <a:r>
              <a:rPr lang="ko-KR" altLang="ko-KR" sz="2000" dirty="0"/>
              <a:t>, 시간 </a:t>
            </a:r>
            <a:r>
              <a:rPr lang="ko-KR" altLang="ko-KR" sz="2000" dirty="0" err="1"/>
              <a:t>bins</a:t>
            </a:r>
            <a:r>
              <a:rPr lang="ko-KR" altLang="ko-KR" sz="2000" dirty="0"/>
              <a:t>)</a:t>
            </a:r>
            <a:endParaRPr lang="en-US" altLang="ko-KR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074F0-C2A9-3ECC-4EBC-D02649CE3AEA}"/>
              </a:ext>
            </a:extLst>
          </p:cNvPr>
          <p:cNvSpPr txBox="1"/>
          <p:nvPr/>
        </p:nvSpPr>
        <p:spPr>
          <a:xfrm>
            <a:off x="206290" y="3767186"/>
            <a:ext cx="71755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2. Positive</a:t>
            </a:r>
            <a:r>
              <a:rPr lang="ko-KR" altLang="en-US" sz="2000" dirty="0"/>
              <a:t> </a:t>
            </a:r>
            <a:r>
              <a:rPr lang="en-US" altLang="ko-KR" sz="2000" dirty="0"/>
              <a:t>EEG</a:t>
            </a:r>
            <a:r>
              <a:rPr lang="ko-KR" altLang="en-US" sz="2000" dirty="0"/>
              <a:t> 이용하여 </a:t>
            </a:r>
            <a:r>
              <a:rPr lang="en-US" altLang="ko-KR" sz="2000" dirty="0"/>
              <a:t>STFT</a:t>
            </a:r>
          </a:p>
          <a:p>
            <a:endParaRPr lang="en-US" altLang="ko-KR" sz="2000" dirty="0"/>
          </a:p>
          <a:p>
            <a:r>
              <a:rPr lang="ko-KR" altLang="ko-KR" sz="2000" dirty="0"/>
              <a:t>(</a:t>
            </a:r>
            <a:r>
              <a:rPr lang="en-US" altLang="ko-KR" sz="2000" dirty="0"/>
              <a:t>positive</a:t>
            </a:r>
            <a:r>
              <a:rPr lang="ko-KR" altLang="ko-KR" sz="2000" dirty="0"/>
              <a:t> EEG </a:t>
            </a:r>
            <a:r>
              <a:rPr lang="ko-KR" altLang="ko-KR" sz="2000" dirty="0" err="1"/>
              <a:t>epoch</a:t>
            </a:r>
            <a:r>
              <a:rPr lang="en-US" altLang="ko-KR" sz="2000" dirty="0"/>
              <a:t> </a:t>
            </a:r>
            <a:r>
              <a:rPr lang="ko-KR" altLang="en-US" sz="2000" dirty="0"/>
              <a:t>수</a:t>
            </a:r>
            <a:r>
              <a:rPr lang="ko-KR" altLang="ko-KR" sz="2000" dirty="0"/>
              <a:t>, </a:t>
            </a:r>
            <a:r>
              <a:rPr lang="en-US" altLang="ko-KR" sz="2000" dirty="0"/>
              <a:t>EEG </a:t>
            </a:r>
            <a:r>
              <a:rPr lang="ko-KR" altLang="ko-KR" sz="2000" dirty="0"/>
              <a:t>채널 수, 주파수 </a:t>
            </a:r>
            <a:r>
              <a:rPr lang="ko-KR" altLang="ko-KR" sz="2000" dirty="0" err="1"/>
              <a:t>bins</a:t>
            </a:r>
            <a:r>
              <a:rPr lang="ko-KR" altLang="ko-KR" sz="2000" dirty="0"/>
              <a:t>, 시간 </a:t>
            </a:r>
            <a:r>
              <a:rPr lang="ko-KR" altLang="ko-KR" sz="2000" dirty="0" err="1"/>
              <a:t>bins</a:t>
            </a:r>
            <a:r>
              <a:rPr lang="ko-KR" altLang="ko-KR" sz="2000" dirty="0"/>
              <a:t>)</a:t>
            </a:r>
            <a:endParaRPr lang="en-US" altLang="ko-KR" sz="20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1427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1506</Words>
  <Application>Microsoft Office PowerPoint</Application>
  <PresentationFormat>와이드스크린</PresentationFormat>
  <Paragraphs>285</Paragraphs>
  <Slides>22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Wingdings</vt:lpstr>
      <vt:lpstr>Office 테마</vt:lpstr>
      <vt:lpstr>Detection of Sleep Oxygen Desaturations from Electroencephalogram Signals</vt:lpstr>
      <vt:lpstr>PowerPoint 프레젠테이션</vt:lpstr>
      <vt:lpstr>PowerPoint 프레젠테이션</vt:lpstr>
      <vt:lpstr>채널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100개의 edf 이용하여 전처리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고승현</dc:creator>
  <cp:lastModifiedBy>고승현</cp:lastModifiedBy>
  <cp:revision>8</cp:revision>
  <dcterms:created xsi:type="dcterms:W3CDTF">2026-07-18T00:05:23Z</dcterms:created>
  <dcterms:modified xsi:type="dcterms:W3CDTF">2026-07-22T10:55:00Z</dcterms:modified>
</cp:coreProperties>
</file>